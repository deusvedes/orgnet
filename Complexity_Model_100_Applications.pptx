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0a26b845294c90" /><Relationship Type="http://schemas.openxmlformats.org/officeDocument/2006/relationships/extended-properties" Target="/docProps/app.xml" Id="R12e68ec1263b46f7" /><Relationship Type="http://schemas.openxmlformats.org/officeDocument/2006/relationships/officeDocument" Target="/ppt/presentation.xml" Id="Red35ddbbb9424ecf" /></Relationships>
</file>

<file path=ppt/presentation.xml><?xml version="1.0" encoding="utf-8"?>
<p:presentation xmlns:p="http://schemas.openxmlformats.org/presentationml/2006/main">
  <p:sldMasterIdLst>
    <p:sldMasterId xmlns:r="http://schemas.openxmlformats.org/officeDocument/2006/relationships" id="2147483648" r:id="R4a22149718184b7b"/>
  </p:sldMasterIdLst>
  <p:notesMasterIdLst>
    <p:notesMasterId xmlns:r="http://schemas.openxmlformats.org/officeDocument/2006/relationships" r:id="R651e6b5a5c4f4065"/>
  </p:notesMasterIdLst>
  <p:sldIdLst>
    <p:sldId xmlns:r="http://schemas.openxmlformats.org/officeDocument/2006/relationships" id="256" r:id="Ra00cb779a91f415a"/>
    <p:sldId xmlns:r="http://schemas.openxmlformats.org/officeDocument/2006/relationships" id="257" r:id="R4c181dae617e4015"/>
    <p:sldId xmlns:r="http://schemas.openxmlformats.org/officeDocument/2006/relationships" id="258" r:id="Raf1e27fd2450498d"/>
    <p:sldId xmlns:r="http://schemas.openxmlformats.org/officeDocument/2006/relationships" id="259" r:id="Ra5041c7743fc4dc2"/>
    <p:sldId xmlns:r="http://schemas.openxmlformats.org/officeDocument/2006/relationships" id="260" r:id="R29dc8546faec44b0"/>
    <p:sldId xmlns:r="http://schemas.openxmlformats.org/officeDocument/2006/relationships" id="261" r:id="Rabaf641f5fc04f29"/>
    <p:sldId xmlns:r="http://schemas.openxmlformats.org/officeDocument/2006/relationships" id="262" r:id="Re71733a43f85490a"/>
    <p:sldId xmlns:r="http://schemas.openxmlformats.org/officeDocument/2006/relationships" id="263" r:id="R806da654e6a8449b"/>
    <p:sldId xmlns:r="http://schemas.openxmlformats.org/officeDocument/2006/relationships" id="264" r:id="Rc0f722151e9e45a5"/>
    <p:sldId xmlns:r="http://schemas.openxmlformats.org/officeDocument/2006/relationships" id="265" r:id="R877928e6a4094bc3"/>
    <p:sldId xmlns:r="http://schemas.openxmlformats.org/officeDocument/2006/relationships" id="266" r:id="R27897574e1814b36"/>
    <p:sldId xmlns:r="http://schemas.openxmlformats.org/officeDocument/2006/relationships" id="267" r:id="Ra8c8e19db0b24ffc"/>
    <p:sldId xmlns:r="http://schemas.openxmlformats.org/officeDocument/2006/relationships" id="268" r:id="R6b3825efe14f4019"/>
    <p:sldId xmlns:r="http://schemas.openxmlformats.org/officeDocument/2006/relationships" id="269" r:id="R286df68fab7944ae"/>
    <p:sldId xmlns:r="http://schemas.openxmlformats.org/officeDocument/2006/relationships" id="270" r:id="R8e1b270546a34da9"/>
    <p:sldId xmlns:r="http://schemas.openxmlformats.org/officeDocument/2006/relationships" id="271" r:id="Rbd231c8a287d4f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6a712729af4151" /><Relationship Type="http://schemas.openxmlformats.org/officeDocument/2006/relationships/slideMaster" Target="/ppt/slideMasters/slideMaster1.xml" Id="R4a22149718184b7b" /><Relationship Type="http://schemas.openxmlformats.org/officeDocument/2006/relationships/notesMaster" Target="/ppt/notesMasters/notesMaster1.xml" Id="R651e6b5a5c4f4065" /><Relationship Type="http://schemas.openxmlformats.org/officeDocument/2006/relationships/presProps" Target="/ppt/presProps.xml" Id="R7242972727a346a7" /><Relationship Type="http://schemas.openxmlformats.org/officeDocument/2006/relationships/tableStyles" Target="/ppt/tableStyles.xml" Id="R3ed3a42156c94b61" /><Relationship Type="http://schemas.openxmlformats.org/officeDocument/2006/relationships/slide" Target="/ppt/slides/slide1.xml" Id="Ra00cb779a91f415a" /><Relationship Type="http://schemas.openxmlformats.org/officeDocument/2006/relationships/slide" Target="/ppt/slides/slide2.xml" Id="R4c181dae617e4015" /><Relationship Type="http://schemas.openxmlformats.org/officeDocument/2006/relationships/slide" Target="/ppt/slides/slide3.xml" Id="Raf1e27fd2450498d" /><Relationship Type="http://schemas.openxmlformats.org/officeDocument/2006/relationships/slide" Target="/ppt/slides/slide4.xml" Id="Ra5041c7743fc4dc2" /><Relationship Type="http://schemas.openxmlformats.org/officeDocument/2006/relationships/slide" Target="/ppt/slides/slide5.xml" Id="R29dc8546faec44b0" /><Relationship Type="http://schemas.openxmlformats.org/officeDocument/2006/relationships/slide" Target="/ppt/slides/slide6.xml" Id="Rabaf641f5fc04f29" /><Relationship Type="http://schemas.openxmlformats.org/officeDocument/2006/relationships/slide" Target="/ppt/slides/slide7.xml" Id="Re71733a43f85490a" /><Relationship Type="http://schemas.openxmlformats.org/officeDocument/2006/relationships/slide" Target="/ppt/slides/slide8.xml" Id="R806da654e6a8449b" /><Relationship Type="http://schemas.openxmlformats.org/officeDocument/2006/relationships/slide" Target="/ppt/slides/slide9.xml" Id="Rc0f722151e9e45a5" /><Relationship Type="http://schemas.openxmlformats.org/officeDocument/2006/relationships/slide" Target="/ppt/slides/slide10.xml" Id="R877928e6a4094bc3" /><Relationship Type="http://schemas.openxmlformats.org/officeDocument/2006/relationships/slide" Target="/ppt/slides/slide11.xml" Id="R27897574e1814b36" /><Relationship Type="http://schemas.openxmlformats.org/officeDocument/2006/relationships/slide" Target="/ppt/slides/slide12.xml" Id="Ra8c8e19db0b24ffc" /><Relationship Type="http://schemas.openxmlformats.org/officeDocument/2006/relationships/slide" Target="/ppt/slides/slide13.xml" Id="R6b3825efe14f4019" /><Relationship Type="http://schemas.openxmlformats.org/officeDocument/2006/relationships/slide" Target="/ppt/slides/slide14.xml" Id="R286df68fab7944ae" /><Relationship Type="http://schemas.openxmlformats.org/officeDocument/2006/relationships/slide" Target="/ppt/slides/slide15.xml" Id="R8e1b270546a34da9" /><Relationship Type="http://schemas.openxmlformats.org/officeDocument/2006/relationships/slide" Target="/ppt/slides/slide16.xml" Id="Rbd231c8a287d4f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40387c4b6e4f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2d76f75c644b5a" /><Relationship Type="http://schemas.openxmlformats.org/officeDocument/2006/relationships/notesMaster" Target="/ppt/notesMasters/notesMaster1.xml" Id="Rdfbbaa5b4d1844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d4e3b2a8104789" /><Relationship Type="http://schemas.openxmlformats.org/officeDocument/2006/relationships/notesMaster" Target="/ppt/notesMasters/notesMaster1.xml" Id="Rfbe60ba3a07c41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1f445d51fc4a62" /><Relationship Type="http://schemas.openxmlformats.org/officeDocument/2006/relationships/notesMaster" Target="/ppt/notesMasters/notesMaster1.xml" Id="Rb81386eb35ca41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0a41feb13f4fbc" /><Relationship Type="http://schemas.openxmlformats.org/officeDocument/2006/relationships/notesMaster" Target="/ppt/notesMasters/notesMaster1.xml" Id="R1a6e3fe3c2f04e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65eb428e364a0a" /><Relationship Type="http://schemas.openxmlformats.org/officeDocument/2006/relationships/notesMaster" Target="/ppt/notesMasters/notesMaster1.xml" Id="R306f25e5e58740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3c0cfc633b4d88" /><Relationship Type="http://schemas.openxmlformats.org/officeDocument/2006/relationships/notesMaster" Target="/ppt/notesMasters/notesMaster1.xml" Id="R25c621d4f7444d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a8d29188a74a54" /><Relationship Type="http://schemas.openxmlformats.org/officeDocument/2006/relationships/notesMaster" Target="/ppt/notesMasters/notesMaster1.xml" Id="Rdf9ca7c896c44e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f334154cfb4d24" /><Relationship Type="http://schemas.openxmlformats.org/officeDocument/2006/relationships/notesMaster" Target="/ppt/notesMasters/notesMaster1.xml" Id="R48bfa880b51b45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6269d3728540f9" /><Relationship Type="http://schemas.openxmlformats.org/officeDocument/2006/relationships/notesMaster" Target="/ppt/notesMasters/notesMaster1.xml" Id="Rb29646149a1649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941b504d4047d5" /><Relationship Type="http://schemas.openxmlformats.org/officeDocument/2006/relationships/notesMaster" Target="/ppt/notesMasters/notesMaster1.xml" Id="R7dd9b178af5845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824cec73134344" /><Relationship Type="http://schemas.openxmlformats.org/officeDocument/2006/relationships/notesMaster" Target="/ppt/notesMasters/notesMaster1.xml" Id="R33ba73d76370433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d0723f996749a1" /><Relationship Type="http://schemas.openxmlformats.org/officeDocument/2006/relationships/notesMaster" Target="/ppt/notesMasters/notesMaster1.xml" Id="Rfb016327acc84b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e9b85279adf4c46" /><Relationship Type="http://schemas.openxmlformats.org/officeDocument/2006/relationships/notesMaster" Target="/ppt/notesMasters/notesMaster1.xml" Id="Rc98f918b8cde4d7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d04f21b4dab4b52" /><Relationship Type="http://schemas.openxmlformats.org/officeDocument/2006/relationships/notesMaster" Target="/ppt/notesMasters/notesMaster1.xml" Id="Rf066b0adcaa54cf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a9d6c56f47d4075" /><Relationship Type="http://schemas.openxmlformats.org/officeDocument/2006/relationships/notesMaster" Target="/ppt/notesMasters/notesMaster1.xml" Id="Rb8522e846205456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f663b3cefd6423c" /><Relationship Type="http://schemas.openxmlformats.org/officeDocument/2006/relationships/notesMaster" Target="/ppt/notesMasters/notesMaster1.xml" Id="R3b7d76b851024f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conversation, original complexity model dated 12 October 2026, sections requested by user.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conversation, original complexity model dated 12 October 2026, sections requested by user.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conversation, original complexity model dated 12 October 2026, sections requested by user.  Original formula K=1+Σwᵢsᵢ assumes weights sum to 9. Listed values total 8.8. The normalized version corrects this arithmetic inconsistency. With missing observations, use available weights and report weighted data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conversation, original complexity model dated 12 October 2026, sections requested by user.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conversation, original complexity model dated 12 October 2026, sections requested by user.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conversation, original complexity model dated 12 October 2026, sections requested by user.  Proposed numeric mapping for discrete categories is 0 / 0.5 / 1. The retrieved original provides category thresholds. Coverage intervals are expressed continuously to avoid gaps at decimal percentages.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conversation, original complexity model dated 12 October 2026, sections requested by user.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conversation, original complexity model dated 12 October 2026, sections requested by user.  Numeric cutoffs for these qualitative factors were not present in the retrieved source. This slide does not invent historical 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conversation, original complexity model dated 12 October 2026, sections requested by user.  The source specifies four classes and calibration after measuring all 100 applications. Original numeric boundaries were not retrievable, so none are attributed to the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conversation, original complexity model dated 12 October 2026, sections requested by user.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conversation, original complexity model dated 12 October 2026, sections requested by user.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conversation, original complexity model dated 12 October 2026, sections requested by user.  Section 8 continuous curves differ from the Section 3 discrete thresholds and from the subsequently implemented CLI policy. Treat them as alternative model configurations, not interchangeable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conversation, original complexity model dated 12 October 2026, sections requested by user.  These values are illustrative assumptions from Section 9, not measured customer effort. For K=10 exact arithmetic is 7.05 person-days, displayed as 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conversation, original complexity model dated 12 October 2026, sections requested by user.  The original recommendation retains an overall weighted index and separately visible dimensions. The delivered CLI/Excel/HTML implement two separately weighted 1–10 scores, with their own policies. Ownership concentration and coupling are later implemented refinements.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conversation, original complexity model dated 12 October 2026, sections requested by user.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conversation, original complexity model dated 12 October 2026, sections requested by user.  Source: current implementation Repo Health CLI 1.1.1 README, examples/policy.properties and RepoHealth.java; interactive Excel/HTML derived from the same policy. All demo inputs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a5f7cdf7484a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a410f6b6cae422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3c7ef95c8246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2e1a628f0c640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b29cd9515a41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40b06181f3b40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5A6F36-2428-46B2-8796-720AB8ADC9B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9343B11-A680-4604-B46F-90F1241AD9A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0006FA2-C1C6-4DE2-871B-ACA4BFD1DF6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887682-1B12-4423-B971-C4CB9543ECE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870346F-7C45-43CE-8908-73FDD0004FE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BB50137-5EE3-4DF2-80B3-D60CD76B07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21CAD2-43AB-4C87-BAD5-717D2C7C79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9C78850-0EEC-430C-8AC9-1D675B62493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87CAF6-76B2-463D-A22E-6A9CF4179A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DAA017-4F0B-4009-B2C7-638E3D87596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3ab34c50f443b3" /><Relationship Type="http://schemas.openxmlformats.org/officeDocument/2006/relationships/slideLayout" Target="/ppt/slideLayouts/slideLayout1.xml" Id="R2def8df8a5ca4f3b" /><Relationship Type="http://schemas.openxmlformats.org/officeDocument/2006/relationships/slideLayout" Target="/ppt/slideLayouts/slideLayout2.xml" Id="R878ecbb15bad4a54" /><Relationship Type="http://schemas.openxmlformats.org/officeDocument/2006/relationships/slideLayout" Target="/ppt/slideLayouts/slideLayout3.xml" Id="R11342c0053dc417e" /><Relationship Type="http://schemas.openxmlformats.org/officeDocument/2006/relationships/slideLayout" Target="/ppt/slideLayouts/slideLayout4.xml" Id="R8840b7b127bc490c" /><Relationship Type="http://schemas.openxmlformats.org/officeDocument/2006/relationships/slideLayout" Target="/ppt/slideLayouts/slideLayout5.xml" Id="Rbcab83d2914d40e9" /><Relationship Type="http://schemas.openxmlformats.org/officeDocument/2006/relationships/slideLayout" Target="/ppt/slideLayouts/slideLayout6.xml" Id="Rb59e797eb05f46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ef8df8a5ca4f3b"/>
    <p:sldLayoutId xmlns:r="http://schemas.openxmlformats.org/officeDocument/2006/relationships" id="2147483650" r:id="R878ecbb15bad4a54"/>
    <p:sldLayoutId xmlns:r="http://schemas.openxmlformats.org/officeDocument/2006/relationships" id="2147483651" r:id="R11342c0053dc417e"/>
    <p:sldLayoutId xmlns:r="http://schemas.openxmlformats.org/officeDocument/2006/relationships" id="2147483652" r:id="R8840b7b127bc490c"/>
    <p:sldLayoutId xmlns:r="http://schemas.openxmlformats.org/officeDocument/2006/relationships" id="2147483653" r:id="Rbcab83d2914d40e9"/>
    <p:sldLayoutId xmlns:r="http://schemas.openxmlformats.org/officeDocument/2006/relationships" id="2147483654" r:id="Rb59e797eb05f46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b2230b866b2466e" /><Relationship Type="http://schemas.openxmlformats.org/officeDocument/2006/relationships/notesSlide" Target="/ppt/notesSlides/notesSlide1.xml" Id="R1bf04633ce174f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37383f4e44f4638" /><Relationship Type="http://schemas.openxmlformats.org/officeDocument/2006/relationships/notesSlide" Target="/ppt/notesSlides/notesSlide2.xml" Id="Rccf429f4830947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9c40ab0f324952" /><Relationship Type="http://schemas.openxmlformats.org/officeDocument/2006/relationships/notesSlide" Target="/ppt/notesSlides/notesSlide3.xml" Id="R4235f8f7286d4d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3b6140a80d24d27" /><Relationship Type="http://schemas.openxmlformats.org/officeDocument/2006/relationships/notesSlide" Target="/ppt/notesSlides/notesSlide4.xml" Id="R7d682b7f83634c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20bdb58892c4894" /><Relationship Type="http://schemas.openxmlformats.org/officeDocument/2006/relationships/notesSlide" Target="/ppt/notesSlides/notesSlide5.xml" Id="R7a65f52fd3114a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d6e9c6f78be40be" /><Relationship Type="http://schemas.openxmlformats.org/officeDocument/2006/relationships/notesSlide" Target="/ppt/notesSlides/notesSlide6.xml" Id="R9f5f6aae382d42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8d4c5e06f374cc3" /><Relationship Type="http://schemas.openxmlformats.org/officeDocument/2006/relationships/notesSlide" Target="/ppt/notesSlides/notesSlide7.xml" Id="Rea6275c7d9014b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0a8198bc7c04fd0" /><Relationship Type="http://schemas.openxmlformats.org/officeDocument/2006/relationships/notesSlide" Target="/ppt/notesSlides/notesSlide8.xml" Id="R8944a588f8064a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d830a59afcf4a46" /><Relationship Type="http://schemas.openxmlformats.org/officeDocument/2006/relationships/notesSlide" Target="/ppt/notesSlides/notesSlide9.xml" Id="R226376734be145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ca093ba328a4006" /><Relationship Type="http://schemas.openxmlformats.org/officeDocument/2006/relationships/notesSlide" Target="/ppt/notesSlides/notesSlide10.xml" Id="R978a50560d1941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bc3aff5a6be42f6" /><Relationship Type="http://schemas.openxmlformats.org/officeDocument/2006/relationships/notesSlide" Target="/ppt/notesSlides/notesSlide11.xml" Id="R3937522fc228419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803cd62929e4597" /><Relationship Type="http://schemas.openxmlformats.org/officeDocument/2006/relationships/notesSlide" Target="/ppt/notesSlides/notesSlide12.xml" Id="R9a22f396b71642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930c2cbb1dd4542" /><Relationship Type="http://schemas.openxmlformats.org/officeDocument/2006/relationships/notesSlide" Target="/ppt/notesSlides/notesSlide13.xml" Id="R394677836c2b43c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bf171209c0540e9" /><Relationship Type="http://schemas.openxmlformats.org/officeDocument/2006/relationships/notesSlide" Target="/ppt/notesSlides/notesSlide14.xml" Id="Ra2fdad56f41940e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d7513d179164c2e" /><Relationship Type="http://schemas.openxmlformats.org/officeDocument/2006/relationships/notesSlide" Target="/ppt/notesSlides/notesSlide15.xml" Id="R1d65261cd26248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b62935d22b04f4a" /><Relationship Type="http://schemas.openxmlformats.org/officeDocument/2006/relationships/notesSlide" Target="/ppt/notesSlides/notesSlide16.xml" Id="Rc0118fec869848b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8D33FE-4096-4303-BA99-0F0DAFBF707E}"/>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226A5B"/>
                </a:solidFill>
                <a:latin typeface="Arial"/>
                <a:ea typeface="Arial"/>
                <a:cs typeface="Arial"/>
              </a:defRPr>
            </a:defPPr>
          </a:lstStyle>
          <a:p xmlns:a="http://schemas.openxmlformats.org/drawingml/2006/main">
            <a:pPr>
              <a:defRPr sz="1275" b="1">
                <a:solidFill>
                  <a:srgbClr val="226A5B"/>
                </a:solidFill>
                <a:latin typeface="Arial"/>
                <a:ea typeface="Arial"/>
                <a:cs typeface="Arial"/>
              </a:defRPr>
            </a:pPr>
            <a:r>
              <a:rPr sz="1275" b="1">
                <a:solidFill>
                  <a:srgbClr val="226A5B"/>
                </a:solidFill>
                <a:latin typeface="Arial"/>
                <a:ea typeface="Arial"/>
                <a:cs typeface="Arial"/>
              </a:rPr>
              <a:t>MODEL OVERVIEW</a:t>
            </a:r>
          </a:p>
        </p:txBody>
      </p:sp>
      <p:sp>
        <p:nvSpPr>
          <p:cNvPr id="2" name="">
            <a:extLst xmlns:a="http://schemas.openxmlformats.org/drawingml/2006/main">
              <a:ext uri="{FF2B5EF4-FFF2-40B4-BE49-F238E27FC236}">
                <a16:creationId xmlns:a16="http://schemas.microsoft.com/office/drawing/2014/main" id="{625866BF-19BC-4E08-BF36-F18C21A51C1B}"/>
              </a:ext>
            </a:extLst>
          </p:cNvPr>
          <p:cNvSpPr>
            <a:spLocks xmlns:a="http://schemas.openxmlformats.org/drawingml/2006/main" noGrp="1"/>
          </p:cNvSpPr>
          <p:nvPr/>
        </p:nvSpPr>
        <p:spPr>
          <a:xfrm xmlns:a="http://schemas.openxmlformats.org/drawingml/2006/main">
            <a:off x="609600" y="828675"/>
            <a:ext cx="1095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203549"/>
                </a:solidFill>
                <a:latin typeface="Arial"/>
                <a:ea typeface="Arial"/>
                <a:cs typeface="Arial"/>
              </a:defRPr>
            </a:defPPr>
          </a:lstStyle>
          <a:p xmlns:a="http://schemas.openxmlformats.org/drawingml/2006/main">
            <a:pPr>
              <a:defRPr sz="3000" b="1">
                <a:solidFill>
                  <a:srgbClr val="203549"/>
                </a:solidFill>
                <a:latin typeface="Arial"/>
                <a:ea typeface="Arial"/>
                <a:cs typeface="Arial"/>
              </a:defRPr>
            </a:pPr>
            <a:r>
              <a:rPr sz="3000" b="1">
                <a:solidFill>
                  <a:srgbClr val="203549"/>
                </a:solidFill>
                <a:latin typeface="Arial"/>
                <a:ea typeface="Arial"/>
                <a:cs typeface="Arial"/>
              </a:rPr>
              <a:t>Complexity model for 100 Java</a:t>
            </a:r>
          </a:p>
          <a:p xmlns:a="http://schemas.openxmlformats.org/drawingml/2006/main">
            <a:pPr>
              <a:defRPr sz="3000" b="1">
                <a:solidFill>
                  <a:srgbClr val="203549"/>
                </a:solidFill>
                <a:latin typeface="Arial"/>
                <a:ea typeface="Arial"/>
                <a:cs typeface="Arial"/>
              </a:defRPr>
            </a:pPr>
            <a:r>
              <a:rPr sz="3000" b="1">
                <a:solidFill>
                  <a:srgbClr val="203549"/>
                </a:solidFill>
                <a:latin typeface="Arial"/>
                <a:ea typeface="Arial"/>
                <a:cs typeface="Arial"/>
              </a:rPr>
              <a:t>and Spring Boot applications</a:t>
            </a:r>
          </a:p>
        </p:txBody>
      </p:sp>
      <p:sp>
        <p:nvSpPr>
          <p:cNvPr id="3" name="">
            <a:extLst xmlns:a="http://schemas.openxmlformats.org/drawingml/2006/main">
              <a:ext uri="{FF2B5EF4-FFF2-40B4-BE49-F238E27FC236}">
                <a16:creationId xmlns:a16="http://schemas.microsoft.com/office/drawing/2014/main" id="{DD461418-F8EF-44D2-9419-865888DE5F1D}"/>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B6F80"/>
                </a:solidFill>
                <a:latin typeface="Arial"/>
                <a:ea typeface="Arial"/>
                <a:cs typeface="Arial"/>
              </a:defRPr>
            </a:defPPr>
          </a:lstStyle>
          <a:p xmlns:a="http://schemas.openxmlformats.org/drawingml/2006/main">
            <a:pPr>
              <a:defRPr sz="1125" b="0">
                <a:solidFill>
                  <a:srgbClr val="5B6F80"/>
                </a:solidFill>
                <a:latin typeface="Arial"/>
                <a:ea typeface="Arial"/>
                <a:cs typeface="Arial"/>
              </a:defRPr>
            </a:pPr>
            <a:r>
              <a:rPr sz="1125" b="0">
                <a:solidFill>
                  <a:srgbClr val="5B6F80"/>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CD730E5F-6A9A-489E-AA1D-34BAAEE5A6B6}"/>
              </a:ext>
            </a:extLst>
          </p:cNvPr>
          <p:cNvSpPr>
            <a:spLocks xmlns:a="http://schemas.openxmlformats.org/drawingml/2006/main" noGrp="1"/>
          </p:cNvSpPr>
          <p:nvPr/>
        </p:nvSpPr>
        <p:spPr>
          <a:xfrm xmlns:a="http://schemas.openxmlformats.org/drawingml/2006/main">
            <a:off x="666750" y="2905125"/>
            <a:ext cx="10191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5B6F80"/>
                </a:solidFill>
                <a:latin typeface="Arial"/>
                <a:ea typeface="Arial"/>
                <a:cs typeface="Arial"/>
              </a:defRPr>
            </a:defPPr>
          </a:lstStyle>
          <a:p xmlns:a="http://schemas.openxmlformats.org/drawingml/2006/main">
            <a:pPr>
              <a:defRPr sz="2325" b="0">
                <a:solidFill>
                  <a:srgbClr val="5B6F80"/>
                </a:solidFill>
                <a:latin typeface="Arial"/>
                <a:ea typeface="Arial"/>
                <a:cs typeface="Arial"/>
              </a:defRPr>
            </a:pPr>
            <a:r>
              <a:rPr sz="2325" b="0">
                <a:solidFill>
                  <a:srgbClr val="5B6F80"/>
                </a:solidFill>
                <a:latin typeface="Arial"/>
                <a:ea typeface="Arial"/>
                <a:cs typeface="Arial"/>
              </a:rPr>
              <a:t>Structural complexity and maintenance/change risk</a:t>
            </a:r>
          </a:p>
        </p:txBody>
      </p:sp>
      <p:sp>
        <p:nvSpPr>
          <p:cNvPr id="5" name="">
            <a:extLst xmlns:a="http://schemas.openxmlformats.org/drawingml/2006/main">
              <a:ext uri="{FF2B5EF4-FFF2-40B4-BE49-F238E27FC236}">
                <a16:creationId xmlns:a16="http://schemas.microsoft.com/office/drawing/2014/main" id="{225F23E0-2D86-41BB-A6C8-92A06B004690}"/>
              </a:ext>
            </a:extLst>
          </p:cNvPr>
          <p:cNvSpPr>
            <a:spLocks xmlns:a="http://schemas.openxmlformats.org/drawingml/2006/main" noGrp="1"/>
          </p:cNvSpPr>
          <p:nvPr/>
        </p:nvSpPr>
        <p:spPr>
          <a:xfrm xmlns:a="http://schemas.openxmlformats.org/drawingml/2006/main">
            <a:off x="666750" y="457200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26A5B"/>
                </a:solidFill>
                <a:latin typeface="Arial"/>
                <a:ea typeface="Arial"/>
                <a:cs typeface="Arial"/>
              </a:defRPr>
            </a:defPPr>
          </a:lstStyle>
          <a:p xmlns:a="http://schemas.openxmlformats.org/drawingml/2006/main">
            <a:pPr>
              <a:defRPr sz="1800" b="0">
                <a:solidFill>
                  <a:srgbClr val="226A5B"/>
                </a:solidFill>
                <a:latin typeface="Arial"/>
                <a:ea typeface="Arial"/>
                <a:cs typeface="Arial"/>
              </a:defRPr>
            </a:pPr>
            <a:r>
              <a:rPr sz="1800" b="0">
                <a:solidFill>
                  <a:srgbClr val="226A5B"/>
                </a:solidFill>
                <a:latin typeface="Arial"/>
                <a:ea typeface="Arial"/>
                <a:cs typeface="Arial"/>
              </a:rPr>
              <a:t>Sections 1, 2, 3, 5, 6, 8, 9 and 10</a:t>
            </a:r>
          </a:p>
        </p:txBody>
      </p:sp>
      <p:sp>
        <p:nvSpPr>
          <p:cNvPr id="6" name="">
            <a:extLst xmlns:a="http://schemas.openxmlformats.org/drawingml/2006/main">
              <a:ext uri="{FF2B5EF4-FFF2-40B4-BE49-F238E27FC236}">
                <a16:creationId xmlns:a16="http://schemas.microsoft.com/office/drawing/2014/main" id="{63611309-B52F-4E08-BB9A-C274D7FC92DC}"/>
              </a:ext>
            </a:extLst>
          </p:cNvPr>
          <p:cNvSpPr>
            <a:spLocks xmlns:a="http://schemas.openxmlformats.org/drawingml/2006/main" noGrp="1"/>
          </p:cNvSpPr>
          <p:nvPr/>
        </p:nvSpPr>
        <p:spPr>
          <a:xfrm xmlns:a="http://schemas.openxmlformats.org/drawingml/2006/main">
            <a:off x="666750" y="5172075"/>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B6F80"/>
                </a:solidFill>
                <a:latin typeface="Arial"/>
                <a:ea typeface="Arial"/>
                <a:cs typeface="Arial"/>
              </a:defRPr>
            </a:defPPr>
          </a:lstStyle>
          <a:p xmlns:a="http://schemas.openxmlformats.org/drawingml/2006/main">
            <a:pPr>
              <a:defRPr sz="1725" b="0">
                <a:solidFill>
                  <a:srgbClr val="5B6F80"/>
                </a:solidFill>
                <a:latin typeface="Arial"/>
                <a:ea typeface="Arial"/>
                <a:cs typeface="Arial"/>
              </a:defRPr>
            </a:pPr>
            <a:r>
              <a:rPr sz="1725" b="0">
                <a:solidFill>
                  <a:srgbClr val="5B6F80"/>
                </a:solidFill>
                <a:latin typeface="Arial"/>
                <a:ea typeface="Arial"/>
                <a:cs typeface="Arial"/>
              </a:rPr>
              <a:t>Model summary and proposed portfolio calibration</a:t>
            </a:r>
          </a:p>
        </p:txBody>
      </p:sp>
    </p:spTree>
    <p:extLst>
      <p:ext uri="{BB962C8B-B14F-4D97-AF65-F5344CB8AC3E}">
        <p14:creationId xmlns:p14="http://schemas.microsoft.com/office/powerpoint/2010/main" val="12926710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FABBA6-F711-4C70-86F5-49CEE5E6726C}"/>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226A5B"/>
                </a:solidFill>
                <a:latin typeface="Arial"/>
                <a:ea typeface="Arial"/>
                <a:cs typeface="Arial"/>
              </a:defRPr>
            </a:defPPr>
          </a:lstStyle>
          <a:p xmlns:a="http://schemas.openxmlformats.org/drawingml/2006/main">
            <a:pPr>
              <a:defRPr sz="1275" b="1">
                <a:solidFill>
                  <a:srgbClr val="226A5B"/>
                </a:solidFill>
                <a:latin typeface="Arial"/>
                <a:ea typeface="Arial"/>
                <a:cs typeface="Arial"/>
              </a:defRPr>
            </a:pPr>
            <a:r>
              <a:rPr sz="1275" b="1">
                <a:solidFill>
                  <a:srgbClr val="226A5B"/>
                </a:solidFill>
                <a:latin typeface="Arial"/>
                <a:ea typeface="Arial"/>
                <a:cs typeface="Arial"/>
              </a:rPr>
              <a:t>OVERVIEW</a:t>
            </a:r>
          </a:p>
        </p:txBody>
      </p:sp>
      <p:sp>
        <p:nvSpPr>
          <p:cNvPr id="2" name="">
            <a:extLst xmlns:a="http://schemas.openxmlformats.org/drawingml/2006/main">
              <a:ext uri="{FF2B5EF4-FFF2-40B4-BE49-F238E27FC236}">
                <a16:creationId xmlns:a16="http://schemas.microsoft.com/office/drawing/2014/main" id="{15324C0D-7FA6-413A-9133-5BEF2B6D1E83}"/>
              </a:ext>
            </a:extLst>
          </p:cNvPr>
          <p:cNvSpPr>
            <a:spLocks xmlns:a="http://schemas.openxmlformats.org/drawingml/2006/main" noGrp="1"/>
          </p:cNvSpPr>
          <p:nvPr/>
        </p:nvSpPr>
        <p:spPr>
          <a:xfrm xmlns:a="http://schemas.openxmlformats.org/drawingml/2006/main">
            <a:off x="609600" y="828675"/>
            <a:ext cx="1095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203549"/>
                </a:solidFill>
                <a:latin typeface="Arial"/>
                <a:ea typeface="Arial"/>
                <a:cs typeface="Arial"/>
              </a:defRPr>
            </a:defPPr>
          </a:lstStyle>
          <a:p xmlns:a="http://schemas.openxmlformats.org/drawingml/2006/main">
            <a:pPr>
              <a:defRPr sz="3000" b="1">
                <a:solidFill>
                  <a:srgbClr val="203549"/>
                </a:solidFill>
                <a:latin typeface="Arial"/>
                <a:ea typeface="Arial"/>
                <a:cs typeface="Arial"/>
              </a:defRPr>
            </a:pPr>
            <a:r>
              <a:rPr sz="3000" b="1">
                <a:solidFill>
                  <a:srgbClr val="203549"/>
                </a:solidFill>
                <a:latin typeface="Arial"/>
                <a:ea typeface="Arial"/>
                <a:cs typeface="Arial"/>
              </a:rPr>
              <a:t>Model scope</a:t>
            </a:r>
          </a:p>
        </p:txBody>
      </p:sp>
      <p:sp>
        <p:nvSpPr>
          <p:cNvPr id="3" name="">
            <a:extLst xmlns:a="http://schemas.openxmlformats.org/drawingml/2006/main">
              <a:ext uri="{FF2B5EF4-FFF2-40B4-BE49-F238E27FC236}">
                <a16:creationId xmlns:a16="http://schemas.microsoft.com/office/drawing/2014/main" id="{65A5D2B7-D1E0-40E8-98C9-DB4FF0378A24}"/>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B6F80"/>
                </a:solidFill>
                <a:latin typeface="Arial"/>
                <a:ea typeface="Arial"/>
                <a:cs typeface="Arial"/>
              </a:defRPr>
            </a:defPPr>
          </a:lstStyle>
          <a:p xmlns:a="http://schemas.openxmlformats.org/drawingml/2006/main">
            <a:pPr>
              <a:defRPr sz="1125" b="0">
                <a:solidFill>
                  <a:srgbClr val="5B6F80"/>
                </a:solidFill>
                <a:latin typeface="Arial"/>
                <a:ea typeface="Arial"/>
                <a:cs typeface="Arial"/>
              </a:defRPr>
            </a:pPr>
            <a:r>
              <a:rPr sz="1125" b="0">
                <a:solidFill>
                  <a:srgbClr val="5B6F80"/>
                </a:solidFill>
                <a:latin typeface="Arial"/>
                <a:ea typeface="Arial"/>
                <a:cs typeface="Arial"/>
              </a:rPr>
              <a:t>02</a:t>
            </a:r>
          </a:p>
        </p:txBody>
      </p:sp>
      <p:graphicFrame>
        <p:nvGraphicFramePr>
          <p:cNvPr id="4" name="">
            <a:extLst xmlns:a="http://schemas.openxmlformats.org/drawingml/2006/main">
              <a:ext uri="{FF2B5EF4-FFF2-40B4-BE49-F238E27FC236}">
                <a16:creationId xmlns:a16="http://schemas.microsoft.com/office/drawing/2014/main" id="{31296396-03F8-494F-A3D5-8F8D7DB48575}"/>
              </a:ext>
            </a:extLst>
          </p:cNvPr>
          <p:cNvGraphicFramePr/>
          <p:nvPr/>
        </p:nvGraphicFramePr>
        <p:xfrm>
          <a:off xmlns:a="http://schemas.openxmlformats.org/drawingml/2006/main" x="619125" y="1809750"/>
          <a:ext xmlns:a="http://schemas.openxmlformats.org/drawingml/2006/main" cx="10953750" cy="4000500"/>
        </p:xfrm>
        <a:graphic xmlns:a="http://schemas.openxmlformats.org/drawingml/2006/main">
          <a:graphicData uri="http://schemas.openxmlformats.org/drawingml/2006/table">
            <a:tbl>
              <a:tblPr/>
              <a:tblGrid>
                <a:gridCol w="1619250"/>
                <a:gridCol w="9334500"/>
              </a:tblGrid>
              <a:tr h="500063">
                <a:tc>
                  <a:txBody>
                    <a:bodyPr/>
                    <a:lstStyle/>
                    <a:p>
                      <a:r>
                        <a:rPr sz="1725" b="1">
                          <a:solidFill>
                            <a:srgbClr val="FFFFFF"/>
                          </a:solidFill>
                          <a:latin typeface="Arial"/>
                          <a:ea typeface="Arial"/>
                          <a:cs typeface="Arial"/>
                        </a:rPr>
                        <a:t>Section</a:t>
                      </a:r>
                    </a:p>
                  </a:txBody>
                  <a:tcPr marL="91440" marR="91440" marT="45720" marB="45720">
                    <a:solidFill>
                      <a:srgbClr val="226A5B"/>
                    </a:solidFill>
                  </a:tcPr>
                </a:tc>
                <a:tc>
                  <a:txBody>
                    <a:bodyPr/>
                    <a:lstStyle/>
                    <a:p>
                      <a:r>
                        <a:rPr sz="1725" b="1">
                          <a:solidFill>
                            <a:srgbClr val="FFFFFF"/>
                          </a:solidFill>
                          <a:latin typeface="Arial"/>
                          <a:ea typeface="Arial"/>
                          <a:cs typeface="Arial"/>
                        </a:rPr>
                        <a:t>Subject</a:t>
                      </a:r>
                    </a:p>
                  </a:txBody>
                  <a:tcPr marL="91440" marR="91440" marT="45720" marB="45720">
                    <a:solidFill>
                      <a:srgbClr val="226A5B"/>
                    </a:solidFill>
                  </a:tcPr>
                </a:tc>
              </a:tr>
              <a:tr h="500063">
                <a:tc>
                  <a:txBody>
                    <a:bodyPr/>
                    <a:lstStyle/>
                    <a:p>
                      <a:r>
                        <a:rPr sz="1725" b="0">
                          <a:solidFill>
                            <a:srgbClr val="203549"/>
                          </a:solidFill>
                          <a:latin typeface="Arial"/>
                          <a:ea typeface="Arial"/>
                          <a:cs typeface="Arial"/>
                        </a:rPr>
                        <a:t>1</a:t>
                      </a:r>
                    </a:p>
                  </a:txBody>
                  <a:tcPr marL="91440" marR="91440" marT="45720" marB="45720">
                    <a:solidFill>
                      <a:srgbClr val="F1F5F7"/>
                    </a:solidFill>
                  </a:tcPr>
                </a:tc>
                <a:tc>
                  <a:txBody>
                    <a:bodyPr/>
                    <a:lstStyle/>
                    <a:p>
                      <a:r>
                        <a:rPr sz="1725" b="0">
                          <a:solidFill>
                            <a:srgbClr val="203549"/>
                          </a:solidFill>
                          <a:latin typeface="Arial"/>
                          <a:ea typeface="Arial"/>
                          <a:cs typeface="Arial"/>
                        </a:rPr>
                        <a:t>Mathematical formula</a:t>
                      </a:r>
                    </a:p>
                  </a:txBody>
                  <a:tcPr marL="91440" marR="91440" marT="45720" marB="45720">
                    <a:solidFill>
                      <a:srgbClr val="F1F5F7"/>
                    </a:solidFill>
                  </a:tcPr>
                </a:tc>
              </a:tr>
              <a:tr h="500063">
                <a:tc>
                  <a:txBody>
                    <a:bodyPr/>
                    <a:lstStyle/>
                    <a:p>
                      <a:r>
                        <a:rPr sz="1725" b="0">
                          <a:solidFill>
                            <a:srgbClr val="203549"/>
                          </a:solidFill>
                          <a:latin typeface="Arial"/>
                          <a:ea typeface="Arial"/>
                          <a:cs typeface="Arial"/>
                        </a:rPr>
                        <a:t>2</a:t>
                      </a:r>
                    </a:p>
                  </a:txBody>
                  <a:tcPr marL="91440" marR="91440" marT="45720" marB="45720">
                    <a:solidFill>
                      <a:srgbClr val="FFFFFF"/>
                    </a:solidFill>
                  </a:tcPr>
                </a:tc>
                <a:tc>
                  <a:txBody>
                    <a:bodyPr/>
                    <a:lstStyle/>
                    <a:p>
                      <a:r>
                        <a:rPr sz="1725" b="0">
                          <a:solidFill>
                            <a:srgbClr val="203549"/>
                          </a:solidFill>
                          <a:latin typeface="Arial"/>
                          <a:ea typeface="Arial"/>
                          <a:cs typeface="Arial"/>
                        </a:rPr>
                        <a:t>Criteria and weights</a:t>
                      </a:r>
                    </a:p>
                  </a:txBody>
                  <a:tcPr marL="91440" marR="91440" marT="45720" marB="45720">
                    <a:solidFill>
                      <a:srgbClr val="FFFFFF"/>
                    </a:solidFill>
                  </a:tcPr>
                </a:tc>
              </a:tr>
              <a:tr h="500063">
                <a:tc>
                  <a:txBody>
                    <a:bodyPr/>
                    <a:lstStyle/>
                    <a:p>
                      <a:r>
                        <a:rPr sz="1725" b="0">
                          <a:solidFill>
                            <a:srgbClr val="203549"/>
                          </a:solidFill>
                          <a:latin typeface="Arial"/>
                          <a:ea typeface="Arial"/>
                          <a:cs typeface="Arial"/>
                        </a:rPr>
                        <a:t>3</a:t>
                      </a:r>
                    </a:p>
                  </a:txBody>
                  <a:tcPr marL="91440" marR="91440" marT="45720" marB="45720">
                    <a:solidFill>
                      <a:srgbClr val="F1F5F7"/>
                    </a:solidFill>
                  </a:tcPr>
                </a:tc>
                <a:tc>
                  <a:txBody>
                    <a:bodyPr/>
                    <a:lstStyle/>
                    <a:p>
                      <a:r>
                        <a:rPr sz="1725" b="0">
                          <a:solidFill>
                            <a:srgbClr val="203549"/>
                          </a:solidFill>
                          <a:latin typeface="Arial"/>
                          <a:ea typeface="Arial"/>
                          <a:cs typeface="Arial"/>
                        </a:rPr>
                        <a:t>Initial scoring scales</a:t>
                      </a:r>
                    </a:p>
                  </a:txBody>
                  <a:tcPr marL="91440" marR="91440" marT="45720" marB="45720">
                    <a:solidFill>
                      <a:srgbClr val="F1F5F7"/>
                    </a:solidFill>
                  </a:tcPr>
                </a:tc>
              </a:tr>
              <a:tr h="500063">
                <a:tc>
                  <a:txBody>
                    <a:bodyPr/>
                    <a:lstStyle/>
                    <a:p>
                      <a:r>
                        <a:rPr sz="1725" b="0">
                          <a:solidFill>
                            <a:srgbClr val="203549"/>
                          </a:solidFill>
                          <a:latin typeface="Arial"/>
                          <a:ea typeface="Arial"/>
                          <a:cs typeface="Arial"/>
                        </a:rPr>
                        <a:t>5 and 6</a:t>
                      </a:r>
                    </a:p>
                  </a:txBody>
                  <a:tcPr marL="91440" marR="91440" marT="45720" marB="45720">
                    <a:solidFill>
                      <a:srgbClr val="FFFFFF"/>
                    </a:solidFill>
                  </a:tcPr>
                </a:tc>
                <a:tc>
                  <a:txBody>
                    <a:bodyPr/>
                    <a:lstStyle/>
                    <a:p>
                      <a:r>
                        <a:rPr sz="1725" b="0">
                          <a:solidFill>
                            <a:srgbClr val="203549"/>
                          </a:solidFill>
                          <a:latin typeface="Arial"/>
                          <a:ea typeface="Arial"/>
                          <a:cs typeface="Arial"/>
                        </a:rPr>
                        <a:t>Complexity classes and additional criteria</a:t>
                      </a:r>
                    </a:p>
                  </a:txBody>
                  <a:tcPr marL="91440" marR="91440" marT="45720" marB="45720">
                    <a:solidFill>
                      <a:srgbClr val="FFFFFF"/>
                    </a:solidFill>
                  </a:tcPr>
                </a:tc>
              </a:tr>
              <a:tr h="500063">
                <a:tc>
                  <a:txBody>
                    <a:bodyPr/>
                    <a:lstStyle/>
                    <a:p>
                      <a:r>
                        <a:rPr sz="1725" b="0">
                          <a:solidFill>
                            <a:srgbClr val="203549"/>
                          </a:solidFill>
                          <a:latin typeface="Arial"/>
                          <a:ea typeface="Arial"/>
                          <a:cs typeface="Arial"/>
                        </a:rPr>
                        <a:t>8</a:t>
                      </a:r>
                    </a:p>
                  </a:txBody>
                  <a:tcPr marL="91440" marR="91440" marT="45720" marB="45720">
                    <a:solidFill>
                      <a:srgbClr val="F1F5F7"/>
                    </a:solidFill>
                  </a:tcPr>
                </a:tc>
                <a:tc>
                  <a:txBody>
                    <a:bodyPr/>
                    <a:lstStyle/>
                    <a:p>
                      <a:r>
                        <a:rPr sz="1725" b="0">
                          <a:solidFill>
                            <a:srgbClr val="203549"/>
                          </a:solidFill>
                          <a:latin typeface="Arial"/>
                          <a:ea typeface="Arial"/>
                          <a:cs typeface="Arial"/>
                        </a:rPr>
                        <a:t>Continuous scoring functions</a:t>
                      </a:r>
                    </a:p>
                  </a:txBody>
                  <a:tcPr marL="91440" marR="91440" marT="45720" marB="45720">
                    <a:solidFill>
                      <a:srgbClr val="F1F5F7"/>
                    </a:solidFill>
                  </a:tcPr>
                </a:tc>
              </a:tr>
              <a:tr h="500063">
                <a:tc>
                  <a:txBody>
                    <a:bodyPr/>
                    <a:lstStyle/>
                    <a:p>
                      <a:r>
                        <a:rPr sz="1725" b="0">
                          <a:solidFill>
                            <a:srgbClr val="203549"/>
                          </a:solidFill>
                          <a:latin typeface="Arial"/>
                          <a:ea typeface="Arial"/>
                          <a:cs typeface="Arial"/>
                        </a:rPr>
                        <a:t>9</a:t>
                      </a:r>
                    </a:p>
                  </a:txBody>
                  <a:tcPr marL="91440" marR="91440" marT="45720" marB="45720">
                    <a:solidFill>
                      <a:srgbClr val="FFFFFF"/>
                    </a:solidFill>
                  </a:tcPr>
                </a:tc>
                <a:tc>
                  <a:txBody>
                    <a:bodyPr/>
                    <a:lstStyle/>
                    <a:p>
                      <a:r>
                        <a:rPr sz="1725" b="0">
                          <a:solidFill>
                            <a:srgbClr val="203549"/>
                          </a:solidFill>
                          <a:latin typeface="Arial"/>
                          <a:ea typeface="Arial"/>
                          <a:cs typeface="Arial"/>
                        </a:rPr>
                        <a:t>Maintenance effort and managed services</a:t>
                      </a:r>
                    </a:p>
                  </a:txBody>
                  <a:tcPr marL="91440" marR="91440" marT="45720" marB="45720">
                    <a:solidFill>
                      <a:srgbClr val="FFFFFF"/>
                    </a:solidFill>
                  </a:tcPr>
                </a:tc>
              </a:tr>
              <a:tr h="500063">
                <a:tc>
                  <a:txBody>
                    <a:bodyPr/>
                    <a:lstStyle/>
                    <a:p>
                      <a:r>
                        <a:rPr sz="1725" b="0">
                          <a:solidFill>
                            <a:srgbClr val="203549"/>
                          </a:solidFill>
                          <a:latin typeface="Arial"/>
                          <a:ea typeface="Arial"/>
                          <a:cs typeface="Arial"/>
                        </a:rPr>
                        <a:t>10</a:t>
                      </a:r>
                    </a:p>
                  </a:txBody>
                  <a:tcPr marL="91440" marR="91440" marT="45720" marB="45720">
                    <a:solidFill>
                      <a:srgbClr val="F1F5F7"/>
                    </a:solidFill>
                  </a:tcPr>
                </a:tc>
                <a:tc>
                  <a:txBody>
                    <a:bodyPr/>
                    <a:lstStyle/>
                    <a:p>
                      <a:r>
                        <a:rPr sz="1725" b="0">
                          <a:solidFill>
                            <a:srgbClr val="203549"/>
                          </a:solidFill>
                          <a:latin typeface="Arial"/>
                          <a:ea typeface="Arial"/>
                          <a:cs typeface="Arial"/>
                        </a:rPr>
                        <a:t>Separate dimensions and rollout across 100 applications</a:t>
                      </a:r>
                    </a:p>
                  </a:txBody>
                  <a:tcPr marL="91440" marR="91440" marT="45720" marB="45720">
                    <a:solidFill>
                      <a:srgbClr val="F1F5F7"/>
                    </a:solidFill>
                  </a:tcPr>
                </a:tc>
              </a:tr>
            </a:tbl>
          </a:graphicData>
        </a:graphic>
      </p:graphicFrame>
    </p:spTree>
    <p:extLst>
      <p:ext uri="{BB962C8B-B14F-4D97-AF65-F5344CB8AC3E}">
        <p14:creationId xmlns:p14="http://schemas.microsoft.com/office/powerpoint/2010/main" val="21415100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692BD2-7F82-4092-9756-E12C29F070E4}"/>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226A5B"/>
                </a:solidFill>
                <a:latin typeface="Arial"/>
                <a:ea typeface="Arial"/>
                <a:cs typeface="Arial"/>
              </a:defRPr>
            </a:defPPr>
          </a:lstStyle>
          <a:p xmlns:a="http://schemas.openxmlformats.org/drawingml/2006/main">
            <a:pPr>
              <a:defRPr sz="1275" b="1">
                <a:solidFill>
                  <a:srgbClr val="226A5B"/>
                </a:solidFill>
                <a:latin typeface="Arial"/>
                <a:ea typeface="Arial"/>
                <a:cs typeface="Arial"/>
              </a:defRPr>
            </a:pPr>
            <a:r>
              <a:rPr sz="1275" b="1">
                <a:solidFill>
                  <a:srgbClr val="226A5B"/>
                </a:solidFill>
                <a:latin typeface="Arial"/>
                <a:ea typeface="Arial"/>
                <a:cs typeface="Arial"/>
              </a:rPr>
              <a:t>SECTION 1</a:t>
            </a:r>
          </a:p>
        </p:txBody>
      </p:sp>
      <p:sp>
        <p:nvSpPr>
          <p:cNvPr id="2" name="">
            <a:extLst xmlns:a="http://schemas.openxmlformats.org/drawingml/2006/main">
              <a:ext uri="{FF2B5EF4-FFF2-40B4-BE49-F238E27FC236}">
                <a16:creationId xmlns:a16="http://schemas.microsoft.com/office/drawing/2014/main" id="{853069A1-1AFB-485F-A8B2-C27578348A3E}"/>
              </a:ext>
            </a:extLst>
          </p:cNvPr>
          <p:cNvSpPr>
            <a:spLocks xmlns:a="http://schemas.openxmlformats.org/drawingml/2006/main" noGrp="1"/>
          </p:cNvSpPr>
          <p:nvPr/>
        </p:nvSpPr>
        <p:spPr>
          <a:xfrm xmlns:a="http://schemas.openxmlformats.org/drawingml/2006/main">
            <a:off x="609600" y="828675"/>
            <a:ext cx="1095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203549"/>
                </a:solidFill>
                <a:latin typeface="Arial"/>
                <a:ea typeface="Arial"/>
                <a:cs typeface="Arial"/>
              </a:defRPr>
            </a:defPPr>
          </a:lstStyle>
          <a:p xmlns:a="http://schemas.openxmlformats.org/drawingml/2006/main">
            <a:pPr>
              <a:defRPr sz="3000" b="1">
                <a:solidFill>
                  <a:srgbClr val="203549"/>
                </a:solidFill>
                <a:latin typeface="Arial"/>
                <a:ea typeface="Arial"/>
                <a:cs typeface="Arial"/>
              </a:defRPr>
            </a:pPr>
            <a:r>
              <a:rPr sz="3000" b="1">
                <a:solidFill>
                  <a:srgbClr val="203549"/>
                </a:solidFill>
                <a:latin typeface="Arial"/>
                <a:ea typeface="Arial"/>
                <a:cs typeface="Arial"/>
              </a:rPr>
              <a:t>Weighted index with a baseline of 1</a:t>
            </a:r>
          </a:p>
        </p:txBody>
      </p:sp>
      <p:sp>
        <p:nvSpPr>
          <p:cNvPr id="3" name="">
            <a:extLst xmlns:a="http://schemas.openxmlformats.org/drawingml/2006/main">
              <a:ext uri="{FF2B5EF4-FFF2-40B4-BE49-F238E27FC236}">
                <a16:creationId xmlns:a16="http://schemas.microsoft.com/office/drawing/2014/main" id="{6FDE15DF-3F12-47E0-9D02-CADAD12F675E}"/>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B6F80"/>
                </a:solidFill>
                <a:latin typeface="Arial"/>
                <a:ea typeface="Arial"/>
                <a:cs typeface="Arial"/>
              </a:defRPr>
            </a:defPPr>
          </a:lstStyle>
          <a:p xmlns:a="http://schemas.openxmlformats.org/drawingml/2006/main">
            <a:pPr>
              <a:defRPr sz="1125" b="0">
                <a:solidFill>
                  <a:srgbClr val="5B6F80"/>
                </a:solidFill>
                <a:latin typeface="Arial"/>
                <a:ea typeface="Arial"/>
                <a:cs typeface="Arial"/>
              </a:defRPr>
            </a:pPr>
            <a:r>
              <a:rPr sz="1125" b="0">
                <a:solidFill>
                  <a:srgbClr val="5B6F80"/>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636EB7DB-00A9-4F21-B685-E3257EE5A601}"/>
              </a:ext>
            </a:extLst>
          </p:cNvPr>
          <p:cNvSpPr>
            <a:spLocks xmlns:a="http://schemas.openxmlformats.org/drawingml/2006/main" noGrp="1"/>
          </p:cNvSpPr>
          <p:nvPr/>
        </p:nvSpPr>
        <p:spPr>
          <a:xfrm xmlns:a="http://schemas.openxmlformats.org/drawingml/2006/main">
            <a:off x="666750" y="2000250"/>
            <a:ext cx="10572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226A5B"/>
                </a:solidFill>
                <a:latin typeface="Arial"/>
                <a:ea typeface="Arial"/>
                <a:cs typeface="Arial"/>
              </a:defRPr>
            </a:defPPr>
          </a:lstStyle>
          <a:p xmlns:a="http://schemas.openxmlformats.org/drawingml/2006/main">
            <a:pPr>
              <a:defRPr sz="3450" b="1">
                <a:solidFill>
                  <a:srgbClr val="226A5B"/>
                </a:solidFill>
                <a:latin typeface="Arial"/>
                <a:ea typeface="Arial"/>
                <a:cs typeface="Arial"/>
              </a:defRPr>
            </a:pPr>
            <a:r>
              <a:rPr sz="3450" b="1">
                <a:solidFill>
                  <a:srgbClr val="226A5B"/>
                </a:solidFill>
                <a:latin typeface="Arial"/>
                <a:ea typeface="Arial"/>
                <a:cs typeface="Arial"/>
              </a:rPr>
              <a:t>K = 1 + 9 × Σ(wᵢ × sᵢ) / Σ(wᵢ)</a:t>
            </a:r>
          </a:p>
        </p:txBody>
      </p:sp>
      <p:sp>
        <p:nvSpPr>
          <p:cNvPr id="5" name="">
            <a:extLst xmlns:a="http://schemas.openxmlformats.org/drawingml/2006/main">
              <a:ext uri="{FF2B5EF4-FFF2-40B4-BE49-F238E27FC236}">
                <a16:creationId xmlns:a16="http://schemas.microsoft.com/office/drawing/2014/main" id="{E8953A9D-F8AA-44E9-92F8-7BCD0A0C4500}"/>
              </a:ext>
            </a:extLst>
          </p:cNvPr>
          <p:cNvSpPr>
            <a:spLocks xmlns:a="http://schemas.openxmlformats.org/drawingml/2006/main" noGrp="1"/>
          </p:cNvSpPr>
          <p:nvPr/>
        </p:nvSpPr>
        <p:spPr>
          <a:xfrm xmlns:a="http://schemas.openxmlformats.org/drawingml/2006/main">
            <a:off x="666750" y="3143250"/>
            <a:ext cx="10572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203549"/>
                </a:solidFill>
                <a:latin typeface="Arial"/>
                <a:ea typeface="Arial"/>
                <a:cs typeface="Arial"/>
              </a:defRPr>
            </a:defPPr>
          </a:lstStyle>
          <a:p xmlns:a="http://schemas.openxmlformats.org/drawingml/2006/main">
            <a:pPr>
              <a:defRPr sz="2175" b="0">
                <a:solidFill>
                  <a:srgbClr val="203549"/>
                </a:solidFill>
                <a:latin typeface="Arial"/>
                <a:ea typeface="Arial"/>
                <a:cs typeface="Arial"/>
              </a:defRPr>
            </a:pPr>
            <a:r>
              <a:rPr sz="2175" b="0">
                <a:solidFill>
                  <a:srgbClr val="203549"/>
                </a:solidFill>
                <a:latin typeface="Arial"/>
                <a:ea typeface="Arial"/>
                <a:cs typeface="Arial"/>
              </a:rPr>
              <a:t>sᵢ is the normalized criterion score from 0 to 1.</a:t>
            </a:r>
          </a:p>
          <a:p xmlns:a="http://schemas.openxmlformats.org/drawingml/2006/main">
            <a:pPr>
              <a:defRPr sz="2175" b="0">
                <a:solidFill>
                  <a:srgbClr val="203549"/>
                </a:solidFill>
                <a:latin typeface="Arial"/>
                <a:ea typeface="Arial"/>
                <a:cs typeface="Arial"/>
              </a:defRPr>
            </a:pPr>
            <a:r>
              <a:rPr sz="2175" b="0">
                <a:solidFill>
                  <a:srgbClr val="203549"/>
                </a:solidFill>
                <a:latin typeface="Arial"/>
                <a:ea typeface="Arial"/>
                <a:cs typeface="Arial"/>
              </a:rPr>
              <a:t>wᵢ is the relative weight. The resulting index ranges from 1 to 10.</a:t>
            </a:r>
          </a:p>
        </p:txBody>
      </p:sp>
      <p:sp>
        <p:nvSpPr>
          <p:cNvPr id="6" name="">
            <a:extLst xmlns:a="http://schemas.openxmlformats.org/drawingml/2006/main">
              <a:ext uri="{FF2B5EF4-FFF2-40B4-BE49-F238E27FC236}">
                <a16:creationId xmlns:a16="http://schemas.microsoft.com/office/drawing/2014/main" id="{9C46133A-5C31-4DF7-9E55-21630C252538}"/>
              </a:ext>
            </a:extLst>
          </p:cNvPr>
          <p:cNvSpPr>
            <a:spLocks xmlns:a="http://schemas.openxmlformats.org/drawingml/2006/main" noGrp="1"/>
          </p:cNvSpPr>
          <p:nvPr/>
        </p:nvSpPr>
        <p:spPr>
          <a:xfrm xmlns:a="http://schemas.openxmlformats.org/drawingml/2006/main">
            <a:off x="666750" y="4857750"/>
            <a:ext cx="1057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B6F80"/>
                </a:solidFill>
                <a:latin typeface="Arial"/>
                <a:ea typeface="Arial"/>
                <a:cs typeface="Arial"/>
              </a:defRPr>
            </a:defPPr>
          </a:lstStyle>
          <a:p xmlns:a="http://schemas.openxmlformats.org/drawingml/2006/main">
            <a:pPr>
              <a:defRPr sz="1800" b="0">
                <a:solidFill>
                  <a:srgbClr val="5B6F80"/>
                </a:solidFill>
                <a:latin typeface="Arial"/>
                <a:ea typeface="Arial"/>
                <a:cs typeface="Arial"/>
              </a:defRPr>
            </a:pPr>
            <a:r>
              <a:rPr sz="1800" b="0">
                <a:solidFill>
                  <a:srgbClr val="5B6F80"/>
                </a:solidFill>
                <a:latin typeface="Arial"/>
                <a:ea typeface="Arial"/>
                <a:cs typeface="Arial"/>
              </a:rPr>
              <a:t>Correction: the original listed weights sum to 8.8, not 9.</a:t>
            </a:r>
          </a:p>
          <a:p xmlns:a="http://schemas.openxmlformats.org/drawingml/2006/main">
            <a:pPr>
              <a:defRPr sz="1800" b="0">
                <a:solidFill>
                  <a:srgbClr val="5B6F80"/>
                </a:solidFill>
                <a:latin typeface="Arial"/>
                <a:ea typeface="Arial"/>
                <a:cs typeface="Arial"/>
              </a:defRPr>
            </a:pPr>
            <a:r>
              <a:rPr sz="1800" b="0">
                <a:solidFill>
                  <a:srgbClr val="5B6F80"/>
                </a:solidFill>
                <a:latin typeface="Arial"/>
                <a:ea typeface="Arial"/>
                <a:cs typeface="Arial"/>
              </a:rPr>
              <a:t>Normalization preserves their proportions and the intended 1–10 scale.</a:t>
            </a:r>
          </a:p>
        </p:txBody>
      </p:sp>
    </p:spTree>
    <p:extLst>
      <p:ext uri="{BB962C8B-B14F-4D97-AF65-F5344CB8AC3E}">
        <p14:creationId xmlns:p14="http://schemas.microsoft.com/office/powerpoint/2010/main" val="5547543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CF21563-3861-460C-B330-95081247F94A}"/>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226A5B"/>
                </a:solidFill>
                <a:latin typeface="Arial"/>
                <a:ea typeface="Arial"/>
                <a:cs typeface="Arial"/>
              </a:defRPr>
            </a:defPPr>
          </a:lstStyle>
          <a:p xmlns:a="http://schemas.openxmlformats.org/drawingml/2006/main">
            <a:pPr>
              <a:defRPr sz="1275" b="1">
                <a:solidFill>
                  <a:srgbClr val="226A5B"/>
                </a:solidFill>
                <a:latin typeface="Arial"/>
                <a:ea typeface="Arial"/>
                <a:cs typeface="Arial"/>
              </a:defRPr>
            </a:pPr>
            <a:r>
              <a:rPr sz="1275" b="1">
                <a:solidFill>
                  <a:srgbClr val="226A5B"/>
                </a:solidFill>
                <a:latin typeface="Arial"/>
                <a:ea typeface="Arial"/>
                <a:cs typeface="Arial"/>
              </a:rPr>
              <a:t>SECTION 2</a:t>
            </a:r>
          </a:p>
        </p:txBody>
      </p:sp>
      <p:sp>
        <p:nvSpPr>
          <p:cNvPr id="2" name="">
            <a:extLst xmlns:a="http://schemas.openxmlformats.org/drawingml/2006/main">
              <a:ext uri="{FF2B5EF4-FFF2-40B4-BE49-F238E27FC236}">
                <a16:creationId xmlns:a16="http://schemas.microsoft.com/office/drawing/2014/main" id="{0D3C5CEC-4DDD-41AD-8136-2CC4B0DB7A97}"/>
              </a:ext>
            </a:extLst>
          </p:cNvPr>
          <p:cNvSpPr>
            <a:spLocks xmlns:a="http://schemas.openxmlformats.org/drawingml/2006/main" noGrp="1"/>
          </p:cNvSpPr>
          <p:nvPr/>
        </p:nvSpPr>
        <p:spPr>
          <a:xfrm xmlns:a="http://schemas.openxmlformats.org/drawingml/2006/main">
            <a:off x="609600" y="828675"/>
            <a:ext cx="1095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203549"/>
                </a:solidFill>
                <a:latin typeface="Arial"/>
                <a:ea typeface="Arial"/>
                <a:cs typeface="Arial"/>
              </a:defRPr>
            </a:defPPr>
          </a:lstStyle>
          <a:p xmlns:a="http://schemas.openxmlformats.org/drawingml/2006/main">
            <a:pPr>
              <a:defRPr sz="3000" b="1">
                <a:solidFill>
                  <a:srgbClr val="203549"/>
                </a:solidFill>
                <a:latin typeface="Arial"/>
                <a:ea typeface="Arial"/>
                <a:cs typeface="Arial"/>
              </a:defRPr>
            </a:pPr>
            <a:r>
              <a:rPr sz="3000" b="1">
                <a:solidFill>
                  <a:srgbClr val="203549"/>
                </a:solidFill>
                <a:latin typeface="Arial"/>
                <a:ea typeface="Arial"/>
                <a:cs typeface="Arial"/>
              </a:rPr>
              <a:t>Criteria and original relative weights</a:t>
            </a:r>
          </a:p>
        </p:txBody>
      </p:sp>
      <p:sp>
        <p:nvSpPr>
          <p:cNvPr id="3" name="">
            <a:extLst xmlns:a="http://schemas.openxmlformats.org/drawingml/2006/main">
              <a:ext uri="{FF2B5EF4-FFF2-40B4-BE49-F238E27FC236}">
                <a16:creationId xmlns:a16="http://schemas.microsoft.com/office/drawing/2014/main" id="{BF76C892-6594-4C30-9FD2-02F9573E0E7B}"/>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B6F80"/>
                </a:solidFill>
                <a:latin typeface="Arial"/>
                <a:ea typeface="Arial"/>
                <a:cs typeface="Arial"/>
              </a:defRPr>
            </a:defPPr>
          </a:lstStyle>
          <a:p xmlns:a="http://schemas.openxmlformats.org/drawingml/2006/main">
            <a:pPr>
              <a:defRPr sz="1125" b="0">
                <a:solidFill>
                  <a:srgbClr val="5B6F80"/>
                </a:solidFill>
                <a:latin typeface="Arial"/>
                <a:ea typeface="Arial"/>
                <a:cs typeface="Arial"/>
              </a:defRPr>
            </a:pPr>
            <a:r>
              <a:rPr sz="1125" b="0">
                <a:solidFill>
                  <a:srgbClr val="5B6F80"/>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2A2BC6E3-1579-4EDF-BE57-184AA0242A15}"/>
              </a:ext>
            </a:extLst>
          </p:cNvPr>
          <p:cNvGraphicFramePr/>
          <p:nvPr/>
        </p:nvGraphicFramePr>
        <p:xfrm>
          <a:off xmlns:a="http://schemas.openxmlformats.org/drawingml/2006/main" x="619125" y="1809750"/>
          <a:ext xmlns:a="http://schemas.openxmlformats.org/drawingml/2006/main" cx="10953750" cy="4048125"/>
        </p:xfrm>
        <a:graphic xmlns:a="http://schemas.openxmlformats.org/drawingml/2006/main">
          <a:graphicData uri="http://schemas.openxmlformats.org/drawingml/2006/table">
            <a:tbl>
              <a:tblPr/>
              <a:tblGrid>
                <a:gridCol w="8858250"/>
                <a:gridCol w="2095500"/>
              </a:tblGrid>
              <a:tr h="449792">
                <a:tc>
                  <a:txBody>
                    <a:bodyPr/>
                    <a:lstStyle/>
                    <a:p>
                      <a:r>
                        <a:rPr sz="1725" b="1">
                          <a:solidFill>
                            <a:srgbClr val="FFFFFF"/>
                          </a:solidFill>
                          <a:latin typeface="Arial"/>
                          <a:ea typeface="Arial"/>
                          <a:cs typeface="Arial"/>
                        </a:rPr>
                        <a:t>Criterion</a:t>
                      </a:r>
                    </a:p>
                  </a:txBody>
                  <a:tcPr marL="91440" marR="91440" marT="45720" marB="45720">
                    <a:solidFill>
                      <a:srgbClr val="226A5B"/>
                    </a:solidFill>
                  </a:tcPr>
                </a:tc>
                <a:tc>
                  <a:txBody>
                    <a:bodyPr/>
                    <a:lstStyle/>
                    <a:p>
                      <a:r>
                        <a:rPr sz="1725" b="1">
                          <a:solidFill>
                            <a:srgbClr val="FFFFFF"/>
                          </a:solidFill>
                          <a:latin typeface="Arial"/>
                          <a:ea typeface="Arial"/>
                          <a:cs typeface="Arial"/>
                        </a:rPr>
                        <a:t>Weight</a:t>
                      </a:r>
                    </a:p>
                  </a:txBody>
                  <a:tcPr marL="91440" marR="91440" marT="45720" marB="45720">
                    <a:solidFill>
                      <a:srgbClr val="226A5B"/>
                    </a:solidFill>
                  </a:tcPr>
                </a:tc>
              </a:tr>
              <a:tr h="449792">
                <a:tc>
                  <a:txBody>
                    <a:bodyPr/>
                    <a:lstStyle/>
                    <a:p>
                      <a:r>
                        <a:rPr sz="1725" b="0">
                          <a:solidFill>
                            <a:srgbClr val="203549"/>
                          </a:solidFill>
                          <a:latin typeface="Arial"/>
                          <a:ea typeface="Arial"/>
                          <a:cs typeface="Arial"/>
                        </a:rPr>
                        <a:t>JVM version / support status</a:t>
                      </a:r>
                    </a:p>
                  </a:txBody>
                  <a:tcPr marL="91440" marR="91440" marT="45720" marB="45720">
                    <a:solidFill>
                      <a:srgbClr val="F1F5F7"/>
                    </a:solidFill>
                  </a:tcPr>
                </a:tc>
                <a:tc>
                  <a:txBody>
                    <a:bodyPr/>
                    <a:lstStyle/>
                    <a:p>
                      <a:r>
                        <a:rPr sz="1725" b="0">
                          <a:solidFill>
                            <a:srgbClr val="203549"/>
                          </a:solidFill>
                          <a:latin typeface="Arial"/>
                          <a:ea typeface="Arial"/>
                          <a:cs typeface="Arial"/>
                        </a:rPr>
                        <a:t>0.80</a:t>
                      </a:r>
                    </a:p>
                  </a:txBody>
                  <a:tcPr marL="91440" marR="91440" marT="45720" marB="45720">
                    <a:solidFill>
                      <a:srgbClr val="F1F5F7"/>
                    </a:solidFill>
                  </a:tcPr>
                </a:tc>
              </a:tr>
              <a:tr h="449792">
                <a:tc>
                  <a:txBody>
                    <a:bodyPr/>
                    <a:lstStyle/>
                    <a:p>
                      <a:r>
                        <a:rPr sz="1725" b="0">
                          <a:solidFill>
                            <a:srgbClr val="203549"/>
                          </a:solidFill>
                          <a:latin typeface="Arial"/>
                          <a:ea typeface="Arial"/>
                          <a:cs typeface="Arial"/>
                        </a:rPr>
                        <a:t>Declared dependencies</a:t>
                      </a:r>
                    </a:p>
                  </a:txBody>
                  <a:tcPr marL="91440" marR="91440" marT="45720" marB="45720">
                    <a:solidFill>
                      <a:srgbClr val="FFFFFF"/>
                    </a:solidFill>
                  </a:tcPr>
                </a:tc>
                <a:tc>
                  <a:txBody>
                    <a:bodyPr/>
                    <a:lstStyle/>
                    <a:p>
                      <a:r>
                        <a:rPr sz="1725" b="0">
                          <a:solidFill>
                            <a:srgbClr val="203549"/>
                          </a:solidFill>
                          <a:latin typeface="Arial"/>
                          <a:ea typeface="Arial"/>
                          <a:cs typeface="Arial"/>
                        </a:rPr>
                        <a:t>0.80</a:t>
                      </a:r>
                    </a:p>
                  </a:txBody>
                  <a:tcPr marL="91440" marR="91440" marT="45720" marB="45720">
                    <a:solidFill>
                      <a:srgbClr val="FFFFFF"/>
                    </a:solidFill>
                  </a:tcPr>
                </a:tc>
              </a:tr>
              <a:tr h="449792">
                <a:tc>
                  <a:txBody>
                    <a:bodyPr/>
                    <a:lstStyle/>
                    <a:p>
                      <a:r>
                        <a:rPr sz="1725" b="0">
                          <a:solidFill>
                            <a:srgbClr val="203549"/>
                          </a:solidFill>
                          <a:latin typeface="Arial"/>
                          <a:ea typeface="Arial"/>
                          <a:cs typeface="Arial"/>
                        </a:rPr>
                        <a:t>External system clients</a:t>
                      </a:r>
                    </a:p>
                  </a:txBody>
                  <a:tcPr marL="91440" marR="91440" marT="45720" marB="45720">
                    <a:solidFill>
                      <a:srgbClr val="F1F5F7"/>
                    </a:solidFill>
                  </a:tcPr>
                </a:tc>
                <a:tc>
                  <a:txBody>
                    <a:bodyPr/>
                    <a:lstStyle/>
                    <a:p>
                      <a:r>
                        <a:rPr sz="1725" b="0">
                          <a:solidFill>
                            <a:srgbClr val="203549"/>
                          </a:solidFill>
                          <a:latin typeface="Arial"/>
                          <a:ea typeface="Arial"/>
                          <a:cs typeface="Arial"/>
                        </a:rPr>
                        <a:t>0.90</a:t>
                      </a:r>
                    </a:p>
                  </a:txBody>
                  <a:tcPr marL="91440" marR="91440" marT="45720" marB="45720">
                    <a:solidFill>
                      <a:srgbClr val="F1F5F7"/>
                    </a:solidFill>
                  </a:tcPr>
                </a:tc>
              </a:tr>
              <a:tr h="449792">
                <a:tc>
                  <a:txBody>
                    <a:bodyPr/>
                    <a:lstStyle/>
                    <a:p>
                      <a:r>
                        <a:rPr sz="1725" b="0">
                          <a:solidFill>
                            <a:srgbClr val="203549"/>
                          </a:solidFill>
                          <a:latin typeface="Arial"/>
                          <a:ea typeface="Arial"/>
                          <a:cs typeface="Arial"/>
                        </a:rPr>
                        <a:t>Exposed interfaces</a:t>
                      </a:r>
                    </a:p>
                  </a:txBody>
                  <a:tcPr marL="91440" marR="91440" marT="45720" marB="45720">
                    <a:solidFill>
                      <a:srgbClr val="FFFFFF"/>
                    </a:solidFill>
                  </a:tcPr>
                </a:tc>
                <a:tc>
                  <a:txBody>
                    <a:bodyPr/>
                    <a:lstStyle/>
                    <a:p>
                      <a:r>
                        <a:rPr sz="1725" b="0">
                          <a:solidFill>
                            <a:srgbClr val="203549"/>
                          </a:solidFill>
                          <a:latin typeface="Arial"/>
                          <a:ea typeface="Arial"/>
                          <a:cs typeface="Arial"/>
                        </a:rPr>
                        <a:t>0.70</a:t>
                      </a:r>
                    </a:p>
                  </a:txBody>
                  <a:tcPr marL="91440" marR="91440" marT="45720" marB="45720">
                    <a:solidFill>
                      <a:srgbClr val="FFFFFF"/>
                    </a:solidFill>
                  </a:tcPr>
                </a:tc>
              </a:tr>
              <a:tr h="449792">
                <a:tc>
                  <a:txBody>
                    <a:bodyPr/>
                    <a:lstStyle/>
                    <a:p>
                      <a:r>
                        <a:rPr sz="1725" b="0">
                          <a:solidFill>
                            <a:srgbClr val="203549"/>
                          </a:solidFill>
                          <a:latin typeface="Arial"/>
                          <a:ea typeface="Arial"/>
                          <a:cs typeface="Arial"/>
                        </a:rPr>
                        <a:t>Lines of code</a:t>
                      </a:r>
                    </a:p>
                  </a:txBody>
                  <a:tcPr marL="91440" marR="91440" marT="45720" marB="45720">
                    <a:solidFill>
                      <a:srgbClr val="F1F5F7"/>
                    </a:solidFill>
                  </a:tcPr>
                </a:tc>
                <a:tc>
                  <a:txBody>
                    <a:bodyPr/>
                    <a:lstStyle/>
                    <a:p>
                      <a:r>
                        <a:rPr sz="1725" b="0">
                          <a:solidFill>
                            <a:srgbClr val="203549"/>
                          </a:solidFill>
                          <a:latin typeface="Arial"/>
                          <a:ea typeface="Arial"/>
                          <a:cs typeface="Arial"/>
                        </a:rPr>
                        <a:t>0.60</a:t>
                      </a:r>
                    </a:p>
                  </a:txBody>
                  <a:tcPr marL="91440" marR="91440" marT="45720" marB="45720">
                    <a:solidFill>
                      <a:srgbClr val="F1F5F7"/>
                    </a:solidFill>
                  </a:tcPr>
                </a:tc>
              </a:tr>
              <a:tr h="449792">
                <a:tc>
                  <a:txBody>
                    <a:bodyPr/>
                    <a:lstStyle/>
                    <a:p>
                      <a:r>
                        <a:rPr sz="1725" b="0">
                          <a:solidFill>
                            <a:srgbClr val="203549"/>
                          </a:solidFill>
                          <a:latin typeface="Arial"/>
                          <a:ea typeface="Arial"/>
                          <a:cs typeface="Arial"/>
                        </a:rPr>
                        <a:t>Test coverage</a:t>
                      </a:r>
                    </a:p>
                  </a:txBody>
                  <a:tcPr marL="91440" marR="91440" marT="45720" marB="45720">
                    <a:solidFill>
                      <a:srgbClr val="FFFFFF"/>
                    </a:solidFill>
                  </a:tcPr>
                </a:tc>
                <a:tc>
                  <a:txBody>
                    <a:bodyPr/>
                    <a:lstStyle/>
                    <a:p>
                      <a:r>
                        <a:rPr sz="1725" b="0">
                          <a:solidFill>
                            <a:srgbClr val="203549"/>
                          </a:solidFill>
                          <a:latin typeface="Arial"/>
                          <a:ea typeface="Arial"/>
                          <a:cs typeface="Arial"/>
                        </a:rPr>
                        <a:t>0.70</a:t>
                      </a:r>
                    </a:p>
                  </a:txBody>
                  <a:tcPr marL="91440" marR="91440" marT="45720" marB="45720">
                    <a:solidFill>
                      <a:srgbClr val="FFFFFF"/>
                    </a:solidFill>
                  </a:tcPr>
                </a:tc>
              </a:tr>
              <a:tr h="449792">
                <a:tc>
                  <a:txBody>
                    <a:bodyPr/>
                    <a:lstStyle/>
                    <a:p>
                      <a:r>
                        <a:rPr sz="1725" b="0">
                          <a:solidFill>
                            <a:srgbClr val="203549"/>
                          </a:solidFill>
                          <a:latin typeface="Arial"/>
                          <a:ea typeface="Arial"/>
                          <a:cs typeface="Arial"/>
                        </a:rPr>
                        <a:t>Spring Boot integration tests</a:t>
                      </a:r>
                    </a:p>
                  </a:txBody>
                  <a:tcPr marL="91440" marR="91440" marT="45720" marB="45720">
                    <a:solidFill>
                      <a:srgbClr val="F1F5F7"/>
                    </a:solidFill>
                  </a:tcPr>
                </a:tc>
                <a:tc>
                  <a:txBody>
                    <a:bodyPr/>
                    <a:lstStyle/>
                    <a:p>
                      <a:r>
                        <a:rPr sz="1725" b="0">
                          <a:solidFill>
                            <a:srgbClr val="203549"/>
                          </a:solidFill>
                          <a:latin typeface="Arial"/>
                          <a:ea typeface="Arial"/>
                          <a:cs typeface="Arial"/>
                        </a:rPr>
                        <a:t>0.50</a:t>
                      </a:r>
                    </a:p>
                  </a:txBody>
                  <a:tcPr marL="91440" marR="91440" marT="45720" marB="45720">
                    <a:solidFill>
                      <a:srgbClr val="F1F5F7"/>
                    </a:solidFill>
                  </a:tcPr>
                </a:tc>
              </a:tr>
              <a:tr h="449792">
                <a:tc>
                  <a:txBody>
                    <a:bodyPr/>
                    <a:lstStyle/>
                    <a:p>
                      <a:r>
                        <a:rPr sz="1725" b="0">
                          <a:solidFill>
                            <a:srgbClr val="203549"/>
                          </a:solidFill>
                          <a:latin typeface="Arial"/>
                          <a:ea typeface="Arial"/>
                          <a:cs typeface="Arial"/>
                        </a:rPr>
                        <a:t>Java packages</a:t>
                      </a:r>
                    </a:p>
                  </a:txBody>
                  <a:tcPr marL="91440" marR="91440" marT="45720" marB="45720">
                    <a:solidFill>
                      <a:srgbClr val="FFFFFF"/>
                    </a:solidFill>
                  </a:tcPr>
                </a:tc>
                <a:tc>
                  <a:txBody>
                    <a:bodyPr/>
                    <a:lstStyle/>
                    <a:p>
                      <a:r>
                        <a:rPr sz="1725" b="0">
                          <a:solidFill>
                            <a:srgbClr val="203549"/>
                          </a:solidFill>
                          <a:latin typeface="Arial"/>
                          <a:ea typeface="Arial"/>
                          <a:cs typeface="Arial"/>
                        </a:rPr>
                        <a:t>0.30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375798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456A1C6-60EB-4E07-8BA1-B6AEE44F0A36}"/>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226A5B"/>
                </a:solidFill>
                <a:latin typeface="Arial"/>
                <a:ea typeface="Arial"/>
                <a:cs typeface="Arial"/>
              </a:defRPr>
            </a:defPPr>
          </a:lstStyle>
          <a:p xmlns:a="http://schemas.openxmlformats.org/drawingml/2006/main">
            <a:pPr>
              <a:defRPr sz="1275" b="1">
                <a:solidFill>
                  <a:srgbClr val="226A5B"/>
                </a:solidFill>
                <a:latin typeface="Arial"/>
                <a:ea typeface="Arial"/>
                <a:cs typeface="Arial"/>
              </a:defRPr>
            </a:pPr>
            <a:r>
              <a:rPr sz="1275" b="1">
                <a:solidFill>
                  <a:srgbClr val="226A5B"/>
                </a:solidFill>
                <a:latin typeface="Arial"/>
                <a:ea typeface="Arial"/>
                <a:cs typeface="Arial"/>
              </a:rPr>
              <a:t>SECTION 2</a:t>
            </a:r>
          </a:p>
        </p:txBody>
      </p:sp>
      <p:sp>
        <p:nvSpPr>
          <p:cNvPr id="2" name="">
            <a:extLst xmlns:a="http://schemas.openxmlformats.org/drawingml/2006/main">
              <a:ext uri="{FF2B5EF4-FFF2-40B4-BE49-F238E27FC236}">
                <a16:creationId xmlns:a16="http://schemas.microsoft.com/office/drawing/2014/main" id="{12861F82-58AC-4881-9CE7-A4EAD3460D3B}"/>
              </a:ext>
            </a:extLst>
          </p:cNvPr>
          <p:cNvSpPr>
            <a:spLocks xmlns:a="http://schemas.openxmlformats.org/drawingml/2006/main" noGrp="1"/>
          </p:cNvSpPr>
          <p:nvPr/>
        </p:nvSpPr>
        <p:spPr>
          <a:xfrm xmlns:a="http://schemas.openxmlformats.org/drawingml/2006/main">
            <a:off x="609600" y="828675"/>
            <a:ext cx="1095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203549"/>
                </a:solidFill>
                <a:latin typeface="Arial"/>
                <a:ea typeface="Arial"/>
                <a:cs typeface="Arial"/>
              </a:defRPr>
            </a:defPPr>
          </a:lstStyle>
          <a:p xmlns:a="http://schemas.openxmlformats.org/drawingml/2006/main">
            <a:pPr>
              <a:defRPr sz="3000" b="1">
                <a:solidFill>
                  <a:srgbClr val="203549"/>
                </a:solidFill>
                <a:latin typeface="Arial"/>
                <a:ea typeface="Arial"/>
                <a:cs typeface="Arial"/>
              </a:defRPr>
            </a:pPr>
            <a:r>
              <a:rPr sz="3000" b="1">
                <a:solidFill>
                  <a:srgbClr val="203549"/>
                </a:solidFill>
                <a:latin typeface="Arial"/>
                <a:ea typeface="Arial"/>
                <a:cs typeface="Arial"/>
              </a:rPr>
              <a:t>Further criteria and original weights</a:t>
            </a:r>
          </a:p>
        </p:txBody>
      </p:sp>
      <p:sp>
        <p:nvSpPr>
          <p:cNvPr id="3" name="">
            <a:extLst xmlns:a="http://schemas.openxmlformats.org/drawingml/2006/main">
              <a:ext uri="{FF2B5EF4-FFF2-40B4-BE49-F238E27FC236}">
                <a16:creationId xmlns:a16="http://schemas.microsoft.com/office/drawing/2014/main" id="{9797F5DA-15EB-4FBF-A4AC-2CDAEDFEF54D}"/>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B6F80"/>
                </a:solidFill>
                <a:latin typeface="Arial"/>
                <a:ea typeface="Arial"/>
                <a:cs typeface="Arial"/>
              </a:defRPr>
            </a:defPPr>
          </a:lstStyle>
          <a:p xmlns:a="http://schemas.openxmlformats.org/drawingml/2006/main">
            <a:pPr>
              <a:defRPr sz="1125" b="0">
                <a:solidFill>
                  <a:srgbClr val="5B6F80"/>
                </a:solidFill>
                <a:latin typeface="Arial"/>
                <a:ea typeface="Arial"/>
                <a:cs typeface="Arial"/>
              </a:defRPr>
            </a:pPr>
            <a:r>
              <a:rPr sz="1125" b="0">
                <a:solidFill>
                  <a:srgbClr val="5B6F80"/>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A5C1B1D6-95A2-4315-B2DA-42A5A75168E6}"/>
              </a:ext>
            </a:extLst>
          </p:cNvPr>
          <p:cNvGraphicFramePr/>
          <p:nvPr/>
        </p:nvGraphicFramePr>
        <p:xfrm>
          <a:off xmlns:a="http://schemas.openxmlformats.org/drawingml/2006/main" x="619125" y="1809750"/>
          <a:ext xmlns:a="http://schemas.openxmlformats.org/drawingml/2006/main" cx="10953750" cy="3667125"/>
        </p:xfrm>
        <a:graphic xmlns:a="http://schemas.openxmlformats.org/drawingml/2006/main">
          <a:graphicData uri="http://schemas.openxmlformats.org/drawingml/2006/table">
            <a:tbl>
              <a:tblPr/>
              <a:tblGrid>
                <a:gridCol w="8858250"/>
                <a:gridCol w="2095500"/>
              </a:tblGrid>
              <a:tr h="458391">
                <a:tc>
                  <a:txBody>
                    <a:bodyPr/>
                    <a:lstStyle/>
                    <a:p>
                      <a:r>
                        <a:rPr sz="1725" b="1">
                          <a:solidFill>
                            <a:srgbClr val="FFFFFF"/>
                          </a:solidFill>
                          <a:latin typeface="Arial"/>
                          <a:ea typeface="Arial"/>
                          <a:cs typeface="Arial"/>
                        </a:rPr>
                        <a:t>Criterion</a:t>
                      </a:r>
                    </a:p>
                  </a:txBody>
                  <a:tcPr marL="91440" marR="91440" marT="45720" marB="45720">
                    <a:solidFill>
                      <a:srgbClr val="226A5B"/>
                    </a:solidFill>
                  </a:tcPr>
                </a:tc>
                <a:tc>
                  <a:txBody>
                    <a:bodyPr/>
                    <a:lstStyle/>
                    <a:p>
                      <a:r>
                        <a:rPr sz="1725" b="1">
                          <a:solidFill>
                            <a:srgbClr val="FFFFFF"/>
                          </a:solidFill>
                          <a:latin typeface="Arial"/>
                          <a:ea typeface="Arial"/>
                          <a:cs typeface="Arial"/>
                        </a:rPr>
                        <a:t>Weight</a:t>
                      </a:r>
                    </a:p>
                  </a:txBody>
                  <a:tcPr marL="91440" marR="91440" marT="45720" marB="45720">
                    <a:solidFill>
                      <a:srgbClr val="226A5B"/>
                    </a:solidFill>
                  </a:tcPr>
                </a:tc>
              </a:tr>
              <a:tr h="458391">
                <a:tc>
                  <a:txBody>
                    <a:bodyPr/>
                    <a:lstStyle/>
                    <a:p>
                      <a:r>
                        <a:rPr sz="1725" b="0">
                          <a:solidFill>
                            <a:srgbClr val="203549"/>
                          </a:solidFill>
                          <a:latin typeface="Arial"/>
                          <a:ea typeface="Arial"/>
                          <a:cs typeface="Arial"/>
                        </a:rPr>
                        <a:t>Spring Boot version / support status</a:t>
                      </a:r>
                    </a:p>
                  </a:txBody>
                  <a:tcPr marL="91440" marR="91440" marT="45720" marB="45720">
                    <a:solidFill>
                      <a:srgbClr val="F1F5F7"/>
                    </a:solidFill>
                  </a:tcPr>
                </a:tc>
                <a:tc>
                  <a:txBody>
                    <a:bodyPr/>
                    <a:lstStyle/>
                    <a:p>
                      <a:r>
                        <a:rPr sz="1725" b="0">
                          <a:solidFill>
                            <a:srgbClr val="203549"/>
                          </a:solidFill>
                          <a:latin typeface="Arial"/>
                          <a:ea typeface="Arial"/>
                          <a:cs typeface="Arial"/>
                        </a:rPr>
                        <a:t>0.80</a:t>
                      </a:r>
                    </a:p>
                  </a:txBody>
                  <a:tcPr marL="91440" marR="91440" marT="45720" marB="45720">
                    <a:solidFill>
                      <a:srgbClr val="F1F5F7"/>
                    </a:solidFill>
                  </a:tcPr>
                </a:tc>
              </a:tr>
              <a:tr h="458391">
                <a:tc>
                  <a:txBody>
                    <a:bodyPr/>
                    <a:lstStyle/>
                    <a:p>
                      <a:r>
                        <a:rPr sz="1725" b="0">
                          <a:solidFill>
                            <a:srgbClr val="203549"/>
                          </a:solidFill>
                          <a:latin typeface="Arial"/>
                          <a:ea typeface="Arial"/>
                          <a:cs typeface="Arial"/>
                        </a:rPr>
                        <a:t>Security vulnerabilities</a:t>
                      </a:r>
                    </a:p>
                  </a:txBody>
                  <a:tcPr marL="91440" marR="91440" marT="45720" marB="45720">
                    <a:solidFill>
                      <a:srgbClr val="FFFFFF"/>
                    </a:solidFill>
                  </a:tcPr>
                </a:tc>
                <a:tc>
                  <a:txBody>
                    <a:bodyPr/>
                    <a:lstStyle/>
                    <a:p>
                      <a:r>
                        <a:rPr sz="1725" b="0">
                          <a:solidFill>
                            <a:srgbClr val="203549"/>
                          </a:solidFill>
                          <a:latin typeface="Arial"/>
                          <a:ea typeface="Arial"/>
                          <a:cs typeface="Arial"/>
                        </a:rPr>
                        <a:t>0.80</a:t>
                      </a:r>
                    </a:p>
                  </a:txBody>
                  <a:tcPr marL="91440" marR="91440" marT="45720" marB="45720">
                    <a:solidFill>
                      <a:srgbClr val="FFFFFF"/>
                    </a:solidFill>
                  </a:tcPr>
                </a:tc>
              </a:tr>
              <a:tr h="458391">
                <a:tc>
                  <a:txBody>
                    <a:bodyPr/>
                    <a:lstStyle/>
                    <a:p>
                      <a:r>
                        <a:rPr sz="1725" b="0">
                          <a:solidFill>
                            <a:srgbClr val="203549"/>
                          </a:solidFill>
                          <a:latin typeface="Arial"/>
                          <a:ea typeface="Arial"/>
                          <a:cs typeface="Arial"/>
                        </a:rPr>
                        <a:t>Cyclomatic complexity</a:t>
                      </a:r>
                    </a:p>
                  </a:txBody>
                  <a:tcPr marL="91440" marR="91440" marT="45720" marB="45720">
                    <a:solidFill>
                      <a:srgbClr val="F1F5F7"/>
                    </a:solidFill>
                  </a:tcPr>
                </a:tc>
                <a:tc>
                  <a:txBody>
                    <a:bodyPr/>
                    <a:lstStyle/>
                    <a:p>
                      <a:r>
                        <a:rPr sz="1725" b="0">
                          <a:solidFill>
                            <a:srgbClr val="203549"/>
                          </a:solidFill>
                          <a:latin typeface="Arial"/>
                          <a:ea typeface="Arial"/>
                          <a:cs typeface="Arial"/>
                        </a:rPr>
                        <a:t>0.40</a:t>
                      </a:r>
                    </a:p>
                  </a:txBody>
                  <a:tcPr marL="91440" marR="91440" marT="45720" marB="45720">
                    <a:solidFill>
                      <a:srgbClr val="F1F5F7"/>
                    </a:solidFill>
                  </a:tcPr>
                </a:tc>
              </a:tr>
              <a:tr h="458391">
                <a:tc>
                  <a:txBody>
                    <a:bodyPr/>
                    <a:lstStyle/>
                    <a:p>
                      <a:r>
                        <a:rPr sz="1725" b="0">
                          <a:solidFill>
                            <a:srgbClr val="203549"/>
                          </a:solidFill>
                          <a:latin typeface="Arial"/>
                          <a:ea typeface="Arial"/>
                          <a:cs typeface="Arial"/>
                        </a:rPr>
                        <a:t>Technical debt</a:t>
                      </a:r>
                    </a:p>
                  </a:txBody>
                  <a:tcPr marL="91440" marR="91440" marT="45720" marB="45720">
                    <a:solidFill>
                      <a:srgbClr val="FFFFFF"/>
                    </a:solidFill>
                  </a:tcPr>
                </a:tc>
                <a:tc>
                  <a:txBody>
                    <a:bodyPr/>
                    <a:lstStyle/>
                    <a:p>
                      <a:r>
                        <a:rPr sz="1725" b="0">
                          <a:solidFill>
                            <a:srgbClr val="203549"/>
                          </a:solidFill>
                          <a:latin typeface="Arial"/>
                          <a:ea typeface="Arial"/>
                          <a:cs typeface="Arial"/>
                        </a:rPr>
                        <a:t>0.40</a:t>
                      </a:r>
                    </a:p>
                  </a:txBody>
                  <a:tcPr marL="91440" marR="91440" marT="45720" marB="45720">
                    <a:solidFill>
                      <a:srgbClr val="FFFFFF"/>
                    </a:solidFill>
                  </a:tcPr>
                </a:tc>
              </a:tr>
              <a:tr h="458391">
                <a:tc>
                  <a:txBody>
                    <a:bodyPr/>
                    <a:lstStyle/>
                    <a:p>
                      <a:r>
                        <a:rPr sz="1725" b="0">
                          <a:solidFill>
                            <a:srgbClr val="203549"/>
                          </a:solidFill>
                          <a:latin typeface="Arial"/>
                          <a:ea typeface="Arial"/>
                          <a:cs typeface="Arial"/>
                        </a:rPr>
                        <a:t>Database complexity</a:t>
                      </a:r>
                    </a:p>
                  </a:txBody>
                  <a:tcPr marL="91440" marR="91440" marT="45720" marB="45720">
                    <a:solidFill>
                      <a:srgbClr val="F1F5F7"/>
                    </a:solidFill>
                  </a:tcPr>
                </a:tc>
                <a:tc>
                  <a:txBody>
                    <a:bodyPr/>
                    <a:lstStyle/>
                    <a:p>
                      <a:r>
                        <a:rPr sz="1725" b="0">
                          <a:solidFill>
                            <a:srgbClr val="203549"/>
                          </a:solidFill>
                          <a:latin typeface="Arial"/>
                          <a:ea typeface="Arial"/>
                          <a:cs typeface="Arial"/>
                        </a:rPr>
                        <a:t>0.40</a:t>
                      </a:r>
                    </a:p>
                  </a:txBody>
                  <a:tcPr marL="91440" marR="91440" marT="45720" marB="45720">
                    <a:solidFill>
                      <a:srgbClr val="F1F5F7"/>
                    </a:solidFill>
                  </a:tcPr>
                </a:tc>
              </a:tr>
              <a:tr h="458391">
                <a:tc>
                  <a:txBody>
                    <a:bodyPr/>
                    <a:lstStyle/>
                    <a:p>
                      <a:r>
                        <a:rPr sz="1725" b="0">
                          <a:solidFill>
                            <a:srgbClr val="203549"/>
                          </a:solidFill>
                          <a:latin typeface="Arial"/>
                          <a:ea typeface="Arial"/>
                          <a:cs typeface="Arial"/>
                        </a:rPr>
                        <a:t>Architecture / deployment</a:t>
                      </a:r>
                    </a:p>
                  </a:txBody>
                  <a:tcPr marL="91440" marR="91440" marT="45720" marB="45720">
                    <a:solidFill>
                      <a:srgbClr val="FFFFFF"/>
                    </a:solidFill>
                  </a:tcPr>
                </a:tc>
                <a:tc>
                  <a:txBody>
                    <a:bodyPr/>
                    <a:lstStyle/>
                    <a:p>
                      <a:r>
                        <a:rPr sz="1725" b="0">
                          <a:solidFill>
                            <a:srgbClr val="203549"/>
                          </a:solidFill>
                          <a:latin typeface="Arial"/>
                          <a:ea typeface="Arial"/>
                          <a:cs typeface="Arial"/>
                        </a:rPr>
                        <a:t>0.40</a:t>
                      </a:r>
                    </a:p>
                  </a:txBody>
                  <a:tcPr marL="91440" marR="91440" marT="45720" marB="45720">
                    <a:solidFill>
                      <a:srgbClr val="FFFFFF"/>
                    </a:solidFill>
                  </a:tcPr>
                </a:tc>
              </a:tr>
              <a:tr h="458391">
                <a:tc>
                  <a:txBody>
                    <a:bodyPr/>
                    <a:lstStyle/>
                    <a:p>
                      <a:r>
                        <a:rPr sz="1725" b="0">
                          <a:solidFill>
                            <a:srgbClr val="203549"/>
                          </a:solidFill>
                          <a:latin typeface="Arial"/>
                          <a:ea typeface="Arial"/>
                          <a:cs typeface="Arial"/>
                        </a:rPr>
                        <a:t>Code change frequency</a:t>
                      </a:r>
                    </a:p>
                  </a:txBody>
                  <a:tcPr marL="91440" marR="91440" marT="45720" marB="45720">
                    <a:solidFill>
                      <a:srgbClr val="F1F5F7"/>
                    </a:solidFill>
                  </a:tcPr>
                </a:tc>
                <a:tc>
                  <a:txBody>
                    <a:bodyPr/>
                    <a:lstStyle/>
                    <a:p>
                      <a:r>
                        <a:rPr sz="1725" b="0">
                          <a:solidFill>
                            <a:srgbClr val="203549"/>
                          </a:solidFill>
                          <a:latin typeface="Arial"/>
                          <a:ea typeface="Arial"/>
                          <a:cs typeface="Arial"/>
                        </a:rPr>
                        <a:t>0.30</a:t>
                      </a:r>
                    </a:p>
                  </a:txBody>
                  <a:tcPr marL="91440" marR="91440" marT="45720" marB="45720">
                    <a:solidFill>
                      <a:srgbClr val="F1F5F7"/>
                    </a:solidFill>
                  </a:tcPr>
                </a:tc>
              </a:tr>
            </a:tbl>
          </a:graphicData>
        </a:graphic>
      </p:graphicFrame>
      <p:sp>
        <p:nvSpPr>
          <p:cNvPr id="5" name="">
            <a:extLst xmlns:a="http://schemas.openxmlformats.org/drawingml/2006/main">
              <a:ext uri="{FF2B5EF4-FFF2-40B4-BE49-F238E27FC236}">
                <a16:creationId xmlns:a16="http://schemas.microsoft.com/office/drawing/2014/main" id="{65CB51E7-FCEE-4D0D-BDB1-F9ED4C9BFA08}"/>
              </a:ext>
            </a:extLst>
          </p:cNvPr>
          <p:cNvSpPr>
            <a:spLocks xmlns:a="http://schemas.openxmlformats.org/drawingml/2006/main" noGrp="1"/>
          </p:cNvSpPr>
          <p:nvPr/>
        </p:nvSpPr>
        <p:spPr>
          <a:xfrm xmlns:a="http://schemas.openxmlformats.org/drawingml/2006/main">
            <a:off x="666750" y="57721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B6F80"/>
                </a:solidFill>
                <a:latin typeface="Arial"/>
                <a:ea typeface="Arial"/>
                <a:cs typeface="Arial"/>
              </a:defRPr>
            </a:defPPr>
          </a:lstStyle>
          <a:p xmlns:a="http://schemas.openxmlformats.org/drawingml/2006/main">
            <a:pPr>
              <a:defRPr sz="1725" b="0">
                <a:solidFill>
                  <a:srgbClr val="5B6F80"/>
                </a:solidFill>
                <a:latin typeface="Arial"/>
                <a:ea typeface="Arial"/>
                <a:cs typeface="Arial"/>
              </a:defRPr>
            </a:pPr>
            <a:r>
              <a:rPr sz="1725" b="0">
                <a:solidFill>
                  <a:srgbClr val="5B6F80"/>
                </a:solidFill>
                <a:latin typeface="Arial"/>
                <a:ea typeface="Arial"/>
                <a:cs typeface="Arial"/>
              </a:rPr>
              <a:t>All 15 weights total 8.80. Effective weights normalize to a total of 9.</a:t>
            </a:r>
          </a:p>
        </p:txBody>
      </p:sp>
    </p:spTree>
    <p:extLst>
      <p:ext uri="{BB962C8B-B14F-4D97-AF65-F5344CB8AC3E}">
        <p14:creationId xmlns:p14="http://schemas.microsoft.com/office/powerpoint/2010/main" val="14096231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10E47D-E30B-4D65-90F6-587EC4EB8B58}"/>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226A5B"/>
                </a:solidFill>
                <a:latin typeface="Arial"/>
                <a:ea typeface="Arial"/>
                <a:cs typeface="Arial"/>
              </a:defRPr>
            </a:defPPr>
          </a:lstStyle>
          <a:p xmlns:a="http://schemas.openxmlformats.org/drawingml/2006/main">
            <a:pPr>
              <a:defRPr sz="1275" b="1">
                <a:solidFill>
                  <a:srgbClr val="226A5B"/>
                </a:solidFill>
                <a:latin typeface="Arial"/>
                <a:ea typeface="Arial"/>
                <a:cs typeface="Arial"/>
              </a:defRPr>
            </a:pPr>
            <a:r>
              <a:rPr sz="1275" b="1">
                <a:solidFill>
                  <a:srgbClr val="226A5B"/>
                </a:solidFill>
                <a:latin typeface="Arial"/>
                <a:ea typeface="Arial"/>
                <a:cs typeface="Arial"/>
              </a:rPr>
              <a:t>SECTION 3</a:t>
            </a:r>
          </a:p>
        </p:txBody>
      </p:sp>
      <p:sp>
        <p:nvSpPr>
          <p:cNvPr id="2" name="">
            <a:extLst xmlns:a="http://schemas.openxmlformats.org/drawingml/2006/main">
              <a:ext uri="{FF2B5EF4-FFF2-40B4-BE49-F238E27FC236}">
                <a16:creationId xmlns:a16="http://schemas.microsoft.com/office/drawing/2014/main" id="{0D2C4090-C284-43CA-ADEB-652881F2BDCF}"/>
              </a:ext>
            </a:extLst>
          </p:cNvPr>
          <p:cNvSpPr>
            <a:spLocks xmlns:a="http://schemas.openxmlformats.org/drawingml/2006/main" noGrp="1"/>
          </p:cNvSpPr>
          <p:nvPr/>
        </p:nvSpPr>
        <p:spPr>
          <a:xfrm xmlns:a="http://schemas.openxmlformats.org/drawingml/2006/main">
            <a:off x="609600" y="828675"/>
            <a:ext cx="1095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203549"/>
                </a:solidFill>
                <a:latin typeface="Arial"/>
                <a:ea typeface="Arial"/>
                <a:cs typeface="Arial"/>
              </a:defRPr>
            </a:defPPr>
          </a:lstStyle>
          <a:p xmlns:a="http://schemas.openxmlformats.org/drawingml/2006/main">
            <a:pPr>
              <a:defRPr sz="3000" b="1">
                <a:solidFill>
                  <a:srgbClr val="203549"/>
                </a:solidFill>
                <a:latin typeface="Arial"/>
                <a:ea typeface="Arial"/>
                <a:cs typeface="Arial"/>
              </a:defRPr>
            </a:pPr>
            <a:r>
              <a:rPr sz="3000" b="1">
                <a:solidFill>
                  <a:srgbClr val="203549"/>
                </a:solidFill>
                <a:latin typeface="Arial"/>
                <a:ea typeface="Arial"/>
                <a:cs typeface="Arial"/>
              </a:rPr>
              <a:t>Initial quantitative scoring scales</a:t>
            </a:r>
          </a:p>
        </p:txBody>
      </p:sp>
      <p:sp>
        <p:nvSpPr>
          <p:cNvPr id="3" name="">
            <a:extLst xmlns:a="http://schemas.openxmlformats.org/drawingml/2006/main">
              <a:ext uri="{FF2B5EF4-FFF2-40B4-BE49-F238E27FC236}">
                <a16:creationId xmlns:a16="http://schemas.microsoft.com/office/drawing/2014/main" id="{B66D284F-AEA8-44F4-A8B7-B5FC6F13826C}"/>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B6F80"/>
                </a:solidFill>
                <a:latin typeface="Arial"/>
                <a:ea typeface="Arial"/>
                <a:cs typeface="Arial"/>
              </a:defRPr>
            </a:defPPr>
          </a:lstStyle>
          <a:p xmlns:a="http://schemas.openxmlformats.org/drawingml/2006/main">
            <a:pPr>
              <a:defRPr sz="1125" b="0">
                <a:solidFill>
                  <a:srgbClr val="5B6F80"/>
                </a:solidFill>
                <a:latin typeface="Arial"/>
                <a:ea typeface="Arial"/>
                <a:cs typeface="Arial"/>
              </a:defRPr>
            </a:pPr>
            <a:r>
              <a:rPr sz="1125" b="0">
                <a:solidFill>
                  <a:srgbClr val="5B6F80"/>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F18294AC-50D0-43CD-AEE4-AF5AB9486D8E}"/>
              </a:ext>
            </a:extLst>
          </p:cNvPr>
          <p:cNvGraphicFramePr/>
          <p:nvPr/>
        </p:nvGraphicFramePr>
        <p:xfrm>
          <a:off xmlns:a="http://schemas.openxmlformats.org/drawingml/2006/main" x="619125" y="1809750"/>
          <a:ext xmlns:a="http://schemas.openxmlformats.org/drawingml/2006/main" cx="10953750" cy="3524250"/>
        </p:xfrm>
        <a:graphic xmlns:a="http://schemas.openxmlformats.org/drawingml/2006/main">
          <a:graphicData uri="http://schemas.openxmlformats.org/drawingml/2006/table">
            <a:tbl>
              <a:tblPr/>
              <a:tblGrid>
                <a:gridCol w="3429000"/>
                <a:gridCol w="2524125"/>
                <a:gridCol w="2524125"/>
                <a:gridCol w="2476500"/>
              </a:tblGrid>
              <a:tr h="503464">
                <a:tc>
                  <a:txBody>
                    <a:bodyPr/>
                    <a:lstStyle/>
                    <a:p>
                      <a:r>
                        <a:rPr sz="1650" b="1">
                          <a:solidFill>
                            <a:srgbClr val="FFFFFF"/>
                          </a:solidFill>
                          <a:latin typeface="Arial"/>
                          <a:ea typeface="Arial"/>
                          <a:cs typeface="Arial"/>
                        </a:rPr>
                        <a:t>Criterion</a:t>
                      </a:r>
                    </a:p>
                  </a:txBody>
                  <a:tcPr marL="91440" marR="91440" marT="45720" marB="45720">
                    <a:solidFill>
                      <a:srgbClr val="226A5B"/>
                    </a:solidFill>
                  </a:tcPr>
                </a:tc>
                <a:tc>
                  <a:txBody>
                    <a:bodyPr/>
                    <a:lstStyle/>
                    <a:p>
                      <a:r>
                        <a:rPr sz="1650" b="1">
                          <a:solidFill>
                            <a:srgbClr val="FFFFFF"/>
                          </a:solidFill>
                          <a:latin typeface="Arial"/>
                          <a:ea typeface="Arial"/>
                          <a:cs typeface="Arial"/>
                        </a:rPr>
                        <a:t>Lower complexity</a:t>
                      </a:r>
                    </a:p>
                  </a:txBody>
                  <a:tcPr marL="91440" marR="91440" marT="45720" marB="45720">
                    <a:solidFill>
                      <a:srgbClr val="226A5B"/>
                    </a:solidFill>
                  </a:tcPr>
                </a:tc>
                <a:tc>
                  <a:txBody>
                    <a:bodyPr/>
                    <a:lstStyle/>
                    <a:p>
                      <a:r>
                        <a:rPr sz="1650" b="1">
                          <a:solidFill>
                            <a:srgbClr val="FFFFFF"/>
                          </a:solidFill>
                          <a:latin typeface="Arial"/>
                          <a:ea typeface="Arial"/>
                          <a:cs typeface="Arial"/>
                        </a:rPr>
                        <a:t>Middle range</a:t>
                      </a:r>
                    </a:p>
                  </a:txBody>
                  <a:tcPr marL="91440" marR="91440" marT="45720" marB="45720">
                    <a:solidFill>
                      <a:srgbClr val="226A5B"/>
                    </a:solidFill>
                  </a:tcPr>
                </a:tc>
                <a:tc>
                  <a:txBody>
                    <a:bodyPr/>
                    <a:lstStyle/>
                    <a:p>
                      <a:r>
                        <a:rPr sz="1650" b="1">
                          <a:solidFill>
                            <a:srgbClr val="FFFFFF"/>
                          </a:solidFill>
                          <a:latin typeface="Arial"/>
                          <a:ea typeface="Arial"/>
                          <a:cs typeface="Arial"/>
                        </a:rPr>
                        <a:t>Higher complexity</a:t>
                      </a:r>
                    </a:p>
                  </a:txBody>
                  <a:tcPr marL="91440" marR="91440" marT="45720" marB="45720">
                    <a:solidFill>
                      <a:srgbClr val="226A5B"/>
                    </a:solidFill>
                  </a:tcPr>
                </a:tc>
              </a:tr>
              <a:tr h="503464">
                <a:tc>
                  <a:txBody>
                    <a:bodyPr/>
                    <a:lstStyle/>
                    <a:p>
                      <a:r>
                        <a:rPr sz="1650" b="0">
                          <a:solidFill>
                            <a:srgbClr val="203549"/>
                          </a:solidFill>
                          <a:latin typeface="Arial"/>
                          <a:ea typeface="Arial"/>
                          <a:cs typeface="Arial"/>
                        </a:rPr>
                        <a:t>Dependencies</a:t>
                      </a:r>
                    </a:p>
                  </a:txBody>
                  <a:tcPr marL="91440" marR="91440" marT="45720" marB="45720">
                    <a:solidFill>
                      <a:srgbClr val="F1F5F7"/>
                    </a:solidFill>
                  </a:tcPr>
                </a:tc>
                <a:tc>
                  <a:txBody>
                    <a:bodyPr/>
                    <a:lstStyle/>
                    <a:p>
                      <a:r>
                        <a:rPr sz="1650" b="0">
                          <a:solidFill>
                            <a:srgbClr val="203549"/>
                          </a:solidFill>
                          <a:latin typeface="Arial"/>
                          <a:ea typeface="Arial"/>
                          <a:cs typeface="Arial"/>
                        </a:rPr>
                        <a:t>≤ 30</a:t>
                      </a:r>
                    </a:p>
                  </a:txBody>
                  <a:tcPr marL="91440" marR="91440" marT="45720" marB="45720">
                    <a:solidFill>
                      <a:srgbClr val="F1F5F7"/>
                    </a:solidFill>
                  </a:tcPr>
                </a:tc>
                <a:tc>
                  <a:txBody>
                    <a:bodyPr/>
                    <a:lstStyle/>
                    <a:p>
                      <a:r>
                        <a:rPr sz="1650" b="0">
                          <a:solidFill>
                            <a:srgbClr val="203549"/>
                          </a:solidFill>
                          <a:latin typeface="Arial"/>
                          <a:ea typeface="Arial"/>
                          <a:cs typeface="Arial"/>
                        </a:rPr>
                        <a:t>31–100</a:t>
                      </a:r>
                    </a:p>
                  </a:txBody>
                  <a:tcPr marL="91440" marR="91440" marT="45720" marB="45720">
                    <a:solidFill>
                      <a:srgbClr val="F1F5F7"/>
                    </a:solidFill>
                  </a:tcPr>
                </a:tc>
                <a:tc>
                  <a:txBody>
                    <a:bodyPr/>
                    <a:lstStyle/>
                    <a:p>
                      <a:r>
                        <a:rPr sz="1650" b="0">
                          <a:solidFill>
                            <a:srgbClr val="203549"/>
                          </a:solidFill>
                          <a:latin typeface="Arial"/>
                          <a:ea typeface="Arial"/>
                          <a:cs typeface="Arial"/>
                        </a:rPr>
                        <a:t>&gt; 100</a:t>
                      </a:r>
                    </a:p>
                  </a:txBody>
                  <a:tcPr marL="91440" marR="91440" marT="45720" marB="45720">
                    <a:solidFill>
                      <a:srgbClr val="F1F5F7"/>
                    </a:solidFill>
                  </a:tcPr>
                </a:tc>
              </a:tr>
              <a:tr h="503464">
                <a:tc>
                  <a:txBody>
                    <a:bodyPr/>
                    <a:lstStyle/>
                    <a:p>
                      <a:r>
                        <a:rPr sz="1650" b="0">
                          <a:solidFill>
                            <a:srgbClr val="203549"/>
                          </a:solidFill>
                          <a:latin typeface="Arial"/>
                          <a:ea typeface="Arial"/>
                          <a:cs typeface="Arial"/>
                        </a:rPr>
                        <a:t>External clients</a:t>
                      </a:r>
                    </a:p>
                  </a:txBody>
                  <a:tcPr marL="91440" marR="91440" marT="45720" marB="45720">
                    <a:solidFill>
                      <a:srgbClr val="FFFFFF"/>
                    </a:solidFill>
                  </a:tcPr>
                </a:tc>
                <a:tc>
                  <a:txBody>
                    <a:bodyPr/>
                    <a:lstStyle/>
                    <a:p>
                      <a:r>
                        <a:rPr sz="1650" b="0">
                          <a:solidFill>
                            <a:srgbClr val="203549"/>
                          </a:solidFill>
                          <a:latin typeface="Arial"/>
                          <a:ea typeface="Arial"/>
                          <a:cs typeface="Arial"/>
                        </a:rPr>
                        <a:t>0–2</a:t>
                      </a:r>
                    </a:p>
                  </a:txBody>
                  <a:tcPr marL="91440" marR="91440" marT="45720" marB="45720">
                    <a:solidFill>
                      <a:srgbClr val="FFFFFF"/>
                    </a:solidFill>
                  </a:tcPr>
                </a:tc>
                <a:tc>
                  <a:txBody>
                    <a:bodyPr/>
                    <a:lstStyle/>
                    <a:p>
                      <a:r>
                        <a:rPr sz="1650" b="0">
                          <a:solidFill>
                            <a:srgbClr val="203549"/>
                          </a:solidFill>
                          <a:latin typeface="Arial"/>
                          <a:ea typeface="Arial"/>
                          <a:cs typeface="Arial"/>
                        </a:rPr>
                        <a:t>3–7</a:t>
                      </a:r>
                    </a:p>
                  </a:txBody>
                  <a:tcPr marL="91440" marR="91440" marT="45720" marB="45720">
                    <a:solidFill>
                      <a:srgbClr val="FFFFFF"/>
                    </a:solidFill>
                  </a:tcPr>
                </a:tc>
                <a:tc>
                  <a:txBody>
                    <a:bodyPr/>
                    <a:lstStyle/>
                    <a:p>
                      <a:r>
                        <a:rPr sz="1650" b="0">
                          <a:solidFill>
                            <a:srgbClr val="203549"/>
                          </a:solidFill>
                          <a:latin typeface="Arial"/>
                          <a:ea typeface="Arial"/>
                          <a:cs typeface="Arial"/>
                        </a:rPr>
                        <a:t>≥ 8</a:t>
                      </a:r>
                    </a:p>
                  </a:txBody>
                  <a:tcPr marL="91440" marR="91440" marT="45720" marB="45720">
                    <a:solidFill>
                      <a:srgbClr val="FFFFFF"/>
                    </a:solidFill>
                  </a:tcPr>
                </a:tc>
              </a:tr>
              <a:tr h="503464">
                <a:tc>
                  <a:txBody>
                    <a:bodyPr/>
                    <a:lstStyle/>
                    <a:p>
                      <a:r>
                        <a:rPr sz="1650" b="0">
                          <a:solidFill>
                            <a:srgbClr val="203549"/>
                          </a:solidFill>
                          <a:latin typeface="Arial"/>
                          <a:ea typeface="Arial"/>
                          <a:cs typeface="Arial"/>
                        </a:rPr>
                        <a:t>Exposed interfaces</a:t>
                      </a:r>
                    </a:p>
                  </a:txBody>
                  <a:tcPr marL="91440" marR="91440" marT="45720" marB="45720">
                    <a:solidFill>
                      <a:srgbClr val="F1F5F7"/>
                    </a:solidFill>
                  </a:tcPr>
                </a:tc>
                <a:tc>
                  <a:txBody>
                    <a:bodyPr/>
                    <a:lstStyle/>
                    <a:p>
                      <a:r>
                        <a:rPr sz="1650" b="0">
                          <a:solidFill>
                            <a:srgbClr val="203549"/>
                          </a:solidFill>
                          <a:latin typeface="Arial"/>
                          <a:ea typeface="Arial"/>
                          <a:cs typeface="Arial"/>
                        </a:rPr>
                        <a:t>0–5</a:t>
                      </a:r>
                    </a:p>
                  </a:txBody>
                  <a:tcPr marL="91440" marR="91440" marT="45720" marB="45720">
                    <a:solidFill>
                      <a:srgbClr val="F1F5F7"/>
                    </a:solidFill>
                  </a:tcPr>
                </a:tc>
                <a:tc>
                  <a:txBody>
                    <a:bodyPr/>
                    <a:lstStyle/>
                    <a:p>
                      <a:r>
                        <a:rPr sz="1650" b="0">
                          <a:solidFill>
                            <a:srgbClr val="203549"/>
                          </a:solidFill>
                          <a:latin typeface="Arial"/>
                          <a:ea typeface="Arial"/>
                          <a:cs typeface="Arial"/>
                        </a:rPr>
                        <a:t>6–20</a:t>
                      </a:r>
                    </a:p>
                  </a:txBody>
                  <a:tcPr marL="91440" marR="91440" marT="45720" marB="45720">
                    <a:solidFill>
                      <a:srgbClr val="F1F5F7"/>
                    </a:solidFill>
                  </a:tcPr>
                </a:tc>
                <a:tc>
                  <a:txBody>
                    <a:bodyPr/>
                    <a:lstStyle/>
                    <a:p>
                      <a:r>
                        <a:rPr sz="1650" b="0">
                          <a:solidFill>
                            <a:srgbClr val="203549"/>
                          </a:solidFill>
                          <a:latin typeface="Arial"/>
                          <a:ea typeface="Arial"/>
                          <a:cs typeface="Arial"/>
                        </a:rPr>
                        <a:t>&gt; 20</a:t>
                      </a:r>
                    </a:p>
                  </a:txBody>
                  <a:tcPr marL="91440" marR="91440" marT="45720" marB="45720">
                    <a:solidFill>
                      <a:srgbClr val="F1F5F7"/>
                    </a:solidFill>
                  </a:tcPr>
                </a:tc>
              </a:tr>
              <a:tr h="503464">
                <a:tc>
                  <a:txBody>
                    <a:bodyPr/>
                    <a:lstStyle/>
                    <a:p>
                      <a:r>
                        <a:rPr sz="1650" b="0">
                          <a:solidFill>
                            <a:srgbClr val="203549"/>
                          </a:solidFill>
                          <a:latin typeface="Arial"/>
                          <a:ea typeface="Arial"/>
                          <a:cs typeface="Arial"/>
                        </a:rPr>
                        <a:t>Production LOC</a:t>
                      </a:r>
                    </a:p>
                  </a:txBody>
                  <a:tcPr marL="91440" marR="91440" marT="45720" marB="45720">
                    <a:solidFill>
                      <a:srgbClr val="FFFFFF"/>
                    </a:solidFill>
                  </a:tcPr>
                </a:tc>
                <a:tc>
                  <a:txBody>
                    <a:bodyPr/>
                    <a:lstStyle/>
                    <a:p>
                      <a:r>
                        <a:rPr sz="1650" b="0">
                          <a:solidFill>
                            <a:srgbClr val="203549"/>
                          </a:solidFill>
                          <a:latin typeface="Arial"/>
                          <a:ea typeface="Arial"/>
                          <a:cs typeface="Arial"/>
                        </a:rPr>
                        <a:t>≤ 5,000</a:t>
                      </a:r>
                    </a:p>
                  </a:txBody>
                  <a:tcPr marL="91440" marR="91440" marT="45720" marB="45720">
                    <a:solidFill>
                      <a:srgbClr val="FFFFFF"/>
                    </a:solidFill>
                  </a:tcPr>
                </a:tc>
                <a:tc>
                  <a:txBody>
                    <a:bodyPr/>
                    <a:lstStyle/>
                    <a:p>
                      <a:r>
                        <a:rPr sz="1650" b="0">
                          <a:solidFill>
                            <a:srgbClr val="203549"/>
                          </a:solidFill>
                          <a:latin typeface="Arial"/>
                          <a:ea typeface="Arial"/>
                          <a:cs typeface="Arial"/>
                        </a:rPr>
                        <a:t>5,001–30,000</a:t>
                      </a:r>
                    </a:p>
                  </a:txBody>
                  <a:tcPr marL="91440" marR="91440" marT="45720" marB="45720">
                    <a:solidFill>
                      <a:srgbClr val="FFFFFF"/>
                    </a:solidFill>
                  </a:tcPr>
                </a:tc>
                <a:tc>
                  <a:txBody>
                    <a:bodyPr/>
                    <a:lstStyle/>
                    <a:p>
                      <a:r>
                        <a:rPr sz="1650" b="0">
                          <a:solidFill>
                            <a:srgbClr val="203549"/>
                          </a:solidFill>
                          <a:latin typeface="Arial"/>
                          <a:ea typeface="Arial"/>
                          <a:cs typeface="Arial"/>
                        </a:rPr>
                        <a:t>&gt; 30,000</a:t>
                      </a:r>
                    </a:p>
                  </a:txBody>
                  <a:tcPr marL="91440" marR="91440" marT="45720" marB="45720">
                    <a:solidFill>
                      <a:srgbClr val="FFFFFF"/>
                    </a:solidFill>
                  </a:tcPr>
                </a:tc>
              </a:tr>
              <a:tr h="503464">
                <a:tc>
                  <a:txBody>
                    <a:bodyPr/>
                    <a:lstStyle/>
                    <a:p>
                      <a:r>
                        <a:rPr sz="1650" b="0">
                          <a:solidFill>
                            <a:srgbClr val="203549"/>
                          </a:solidFill>
                          <a:latin typeface="Arial"/>
                          <a:ea typeface="Arial"/>
                          <a:cs typeface="Arial"/>
                        </a:rPr>
                        <a:t>Test coverage</a:t>
                      </a:r>
                    </a:p>
                  </a:txBody>
                  <a:tcPr marL="91440" marR="91440" marT="45720" marB="45720">
                    <a:solidFill>
                      <a:srgbClr val="F1F5F7"/>
                    </a:solidFill>
                  </a:tcPr>
                </a:tc>
                <a:tc>
                  <a:txBody>
                    <a:bodyPr/>
                    <a:lstStyle/>
                    <a:p>
                      <a:r>
                        <a:rPr sz="1650" b="0">
                          <a:solidFill>
                            <a:srgbClr val="203549"/>
                          </a:solidFill>
                          <a:latin typeface="Arial"/>
                          <a:ea typeface="Arial"/>
                          <a:cs typeface="Arial"/>
                        </a:rPr>
                        <a:t>≥ 80%</a:t>
                      </a:r>
                    </a:p>
                  </a:txBody>
                  <a:tcPr marL="91440" marR="91440" marT="45720" marB="45720">
                    <a:solidFill>
                      <a:srgbClr val="F1F5F7"/>
                    </a:solidFill>
                  </a:tcPr>
                </a:tc>
                <a:tc>
                  <a:txBody>
                    <a:bodyPr/>
                    <a:lstStyle/>
                    <a:p>
                      <a:r>
                        <a:rPr sz="1650" b="0">
                          <a:solidFill>
                            <a:srgbClr val="203549"/>
                          </a:solidFill>
                          <a:latin typeface="Arial"/>
                          <a:ea typeface="Arial"/>
                          <a:cs typeface="Arial"/>
                        </a:rPr>
                        <a:t>50% to &lt; 80%</a:t>
                      </a:r>
                    </a:p>
                  </a:txBody>
                  <a:tcPr marL="91440" marR="91440" marT="45720" marB="45720">
                    <a:solidFill>
                      <a:srgbClr val="F1F5F7"/>
                    </a:solidFill>
                  </a:tcPr>
                </a:tc>
                <a:tc>
                  <a:txBody>
                    <a:bodyPr/>
                    <a:lstStyle/>
                    <a:p>
                      <a:r>
                        <a:rPr sz="1650" b="0">
                          <a:solidFill>
                            <a:srgbClr val="203549"/>
                          </a:solidFill>
                          <a:latin typeface="Arial"/>
                          <a:ea typeface="Arial"/>
                          <a:cs typeface="Arial"/>
                        </a:rPr>
                        <a:t>&lt; 50%</a:t>
                      </a:r>
                    </a:p>
                  </a:txBody>
                  <a:tcPr marL="91440" marR="91440" marT="45720" marB="45720">
                    <a:solidFill>
                      <a:srgbClr val="F1F5F7"/>
                    </a:solidFill>
                  </a:tcPr>
                </a:tc>
              </a:tr>
              <a:tr h="503464">
                <a:tc>
                  <a:txBody>
                    <a:bodyPr/>
                    <a:lstStyle/>
                    <a:p>
                      <a:r>
                        <a:rPr sz="1650" b="0">
                          <a:solidFill>
                            <a:srgbClr val="203549"/>
                          </a:solidFill>
                          <a:latin typeface="Arial"/>
                          <a:ea typeface="Arial"/>
                          <a:cs typeface="Arial"/>
                        </a:rPr>
                        <a:t>Java packages</a:t>
                      </a:r>
                    </a:p>
                  </a:txBody>
                  <a:tcPr marL="91440" marR="91440" marT="45720" marB="45720">
                    <a:solidFill>
                      <a:srgbClr val="FFFFFF"/>
                    </a:solidFill>
                  </a:tcPr>
                </a:tc>
                <a:tc>
                  <a:txBody>
                    <a:bodyPr/>
                    <a:lstStyle/>
                    <a:p>
                      <a:r>
                        <a:rPr sz="1650" b="0">
                          <a:solidFill>
                            <a:srgbClr val="203549"/>
                          </a:solidFill>
                          <a:latin typeface="Arial"/>
                          <a:ea typeface="Arial"/>
                          <a:cs typeface="Arial"/>
                        </a:rPr>
                        <a:t>≤ 10</a:t>
                      </a:r>
                    </a:p>
                  </a:txBody>
                  <a:tcPr marL="91440" marR="91440" marT="45720" marB="45720">
                    <a:solidFill>
                      <a:srgbClr val="FFFFFF"/>
                    </a:solidFill>
                  </a:tcPr>
                </a:tc>
                <a:tc>
                  <a:txBody>
                    <a:bodyPr/>
                    <a:lstStyle/>
                    <a:p>
                      <a:r>
                        <a:rPr sz="1650" b="0">
                          <a:solidFill>
                            <a:srgbClr val="203549"/>
                          </a:solidFill>
                          <a:latin typeface="Arial"/>
                          <a:ea typeface="Arial"/>
                          <a:cs typeface="Arial"/>
                        </a:rPr>
                        <a:t>11–40</a:t>
                      </a:r>
                    </a:p>
                  </a:txBody>
                  <a:tcPr marL="91440" marR="91440" marT="45720" marB="45720">
                    <a:solidFill>
                      <a:srgbClr val="FFFFFF"/>
                    </a:solidFill>
                  </a:tcPr>
                </a:tc>
                <a:tc>
                  <a:txBody>
                    <a:bodyPr/>
                    <a:lstStyle/>
                    <a:p>
                      <a:r>
                        <a:rPr sz="1650" b="0">
                          <a:solidFill>
                            <a:srgbClr val="203549"/>
                          </a:solidFill>
                          <a:latin typeface="Arial"/>
                          <a:ea typeface="Arial"/>
                          <a:cs typeface="Arial"/>
                        </a:rPr>
                        <a:t>&gt; 40</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89A7810-88E8-4712-8BD2-52460666A70F}"/>
              </a:ext>
            </a:extLst>
          </p:cNvPr>
          <p:cNvSpPr>
            <a:spLocks xmlns:a="http://schemas.openxmlformats.org/drawingml/2006/main" noGrp="1"/>
          </p:cNvSpPr>
          <p:nvPr/>
        </p:nvSpPr>
        <p:spPr>
          <a:xfrm xmlns:a="http://schemas.openxmlformats.org/drawingml/2006/main">
            <a:off x="666750" y="57150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B6F80"/>
                </a:solidFill>
                <a:latin typeface="Arial"/>
                <a:ea typeface="Arial"/>
                <a:cs typeface="Arial"/>
              </a:defRPr>
            </a:defPPr>
          </a:lstStyle>
          <a:p xmlns:a="http://schemas.openxmlformats.org/drawingml/2006/main">
            <a:pPr>
              <a:defRPr sz="1725" b="0">
                <a:solidFill>
                  <a:srgbClr val="5B6F80"/>
                </a:solidFill>
                <a:latin typeface="Arial"/>
                <a:ea typeface="Arial"/>
                <a:cs typeface="Arial"/>
              </a:defRPr>
            </a:pPr>
            <a:r>
              <a:rPr sz="1725" b="0">
                <a:solidFill>
                  <a:srgbClr val="5B6F80"/>
                </a:solidFill>
                <a:latin typeface="Arial"/>
                <a:ea typeface="Arial"/>
                <a:cs typeface="Arial"/>
              </a:rPr>
              <a:t>Initial thresholds require calibration against the 100-application portfolio.</a:t>
            </a:r>
          </a:p>
        </p:txBody>
      </p:sp>
    </p:spTree>
    <p:extLst>
      <p:ext uri="{BB962C8B-B14F-4D97-AF65-F5344CB8AC3E}">
        <p14:creationId xmlns:p14="http://schemas.microsoft.com/office/powerpoint/2010/main" val="10584612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DFB0A7-0C90-49CA-B1CB-F9FA713C5D82}"/>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226A5B"/>
                </a:solidFill>
                <a:latin typeface="Arial"/>
                <a:ea typeface="Arial"/>
                <a:cs typeface="Arial"/>
              </a:defRPr>
            </a:defPPr>
          </a:lstStyle>
          <a:p xmlns:a="http://schemas.openxmlformats.org/drawingml/2006/main">
            <a:pPr>
              <a:defRPr sz="1275" b="1">
                <a:solidFill>
                  <a:srgbClr val="226A5B"/>
                </a:solidFill>
                <a:latin typeface="Arial"/>
                <a:ea typeface="Arial"/>
                <a:cs typeface="Arial"/>
              </a:defRPr>
            </a:pPr>
            <a:r>
              <a:rPr sz="1275" b="1">
                <a:solidFill>
                  <a:srgbClr val="226A5B"/>
                </a:solidFill>
                <a:latin typeface="Arial"/>
                <a:ea typeface="Arial"/>
                <a:cs typeface="Arial"/>
              </a:rPr>
              <a:t>SECTION 3</a:t>
            </a:r>
          </a:p>
        </p:txBody>
      </p:sp>
      <p:sp>
        <p:nvSpPr>
          <p:cNvPr id="2" name="">
            <a:extLst xmlns:a="http://schemas.openxmlformats.org/drawingml/2006/main">
              <a:ext uri="{FF2B5EF4-FFF2-40B4-BE49-F238E27FC236}">
                <a16:creationId xmlns:a16="http://schemas.microsoft.com/office/drawing/2014/main" id="{4F6CBC3D-8094-460E-9EDB-16C7E64967A8}"/>
              </a:ext>
            </a:extLst>
          </p:cNvPr>
          <p:cNvSpPr>
            <a:spLocks xmlns:a="http://schemas.openxmlformats.org/drawingml/2006/main" noGrp="1"/>
          </p:cNvSpPr>
          <p:nvPr/>
        </p:nvSpPr>
        <p:spPr>
          <a:xfrm xmlns:a="http://schemas.openxmlformats.org/drawingml/2006/main">
            <a:off x="609600" y="828675"/>
            <a:ext cx="1095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203549"/>
                </a:solidFill>
                <a:latin typeface="Arial"/>
                <a:ea typeface="Arial"/>
                <a:cs typeface="Arial"/>
              </a:defRPr>
            </a:defPPr>
          </a:lstStyle>
          <a:p xmlns:a="http://schemas.openxmlformats.org/drawingml/2006/main">
            <a:pPr>
              <a:defRPr sz="3000" b="1">
                <a:solidFill>
                  <a:srgbClr val="203549"/>
                </a:solidFill>
                <a:latin typeface="Arial"/>
                <a:ea typeface="Arial"/>
                <a:cs typeface="Arial"/>
              </a:defRPr>
            </a:pPr>
            <a:r>
              <a:rPr sz="3000" b="1">
                <a:solidFill>
                  <a:srgbClr val="203549"/>
                </a:solidFill>
                <a:latin typeface="Arial"/>
                <a:ea typeface="Arial"/>
                <a:cs typeface="Arial"/>
              </a:rPr>
              <a:t>Support status and test quality</a:t>
            </a:r>
          </a:p>
        </p:txBody>
      </p:sp>
      <p:sp>
        <p:nvSpPr>
          <p:cNvPr id="3" name="">
            <a:extLst xmlns:a="http://schemas.openxmlformats.org/drawingml/2006/main">
              <a:ext uri="{FF2B5EF4-FFF2-40B4-BE49-F238E27FC236}">
                <a16:creationId xmlns:a16="http://schemas.microsoft.com/office/drawing/2014/main" id="{DEBF60DE-5229-4072-A3BE-EC0FDFA10DD5}"/>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B6F80"/>
                </a:solidFill>
                <a:latin typeface="Arial"/>
                <a:ea typeface="Arial"/>
                <a:cs typeface="Arial"/>
              </a:defRPr>
            </a:defPPr>
          </a:lstStyle>
          <a:p xmlns:a="http://schemas.openxmlformats.org/drawingml/2006/main">
            <a:pPr>
              <a:defRPr sz="1125" b="0">
                <a:solidFill>
                  <a:srgbClr val="5B6F80"/>
                </a:solidFill>
                <a:latin typeface="Arial"/>
                <a:ea typeface="Arial"/>
                <a:cs typeface="Arial"/>
              </a:defRPr>
            </a:pPr>
            <a:r>
              <a:rPr sz="1125" b="0">
                <a:solidFill>
                  <a:srgbClr val="5B6F80"/>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BD00CCC4-610D-4FD9-8D0D-F9119CEAAA1E}"/>
              </a:ext>
            </a:extLst>
          </p:cNvPr>
          <p:cNvGraphicFramePr/>
          <p:nvPr/>
        </p:nvGraphicFramePr>
        <p:xfrm>
          <a:off xmlns:a="http://schemas.openxmlformats.org/drawingml/2006/main" x="619125" y="1809750"/>
          <a:ext xmlns:a="http://schemas.openxmlformats.org/drawingml/2006/main" cx="10953750" cy="3333750"/>
        </p:xfrm>
        <a:graphic xmlns:a="http://schemas.openxmlformats.org/drawingml/2006/main">
          <a:graphicData uri="http://schemas.openxmlformats.org/drawingml/2006/table">
            <a:tbl>
              <a:tblPr/>
              <a:tblGrid>
                <a:gridCol w="2714625"/>
                <a:gridCol w="2762250"/>
                <a:gridCol w="2762250"/>
                <a:gridCol w="2714625"/>
              </a:tblGrid>
              <a:tr h="666750">
                <a:tc>
                  <a:txBody>
                    <a:bodyPr/>
                    <a:lstStyle/>
                    <a:p>
                      <a:r>
                        <a:rPr sz="1650" b="1">
                          <a:solidFill>
                            <a:srgbClr val="FFFFFF"/>
                          </a:solidFill>
                          <a:latin typeface="Arial"/>
                          <a:ea typeface="Arial"/>
                          <a:cs typeface="Arial"/>
                        </a:rPr>
                        <a:t>Criterion</a:t>
                      </a:r>
                    </a:p>
                  </a:txBody>
                  <a:tcPr marL="91440" marR="91440" marT="45720" marB="45720">
                    <a:solidFill>
                      <a:srgbClr val="226A5B"/>
                    </a:solidFill>
                  </a:tcPr>
                </a:tc>
                <a:tc>
                  <a:txBody>
                    <a:bodyPr/>
                    <a:lstStyle/>
                    <a:p>
                      <a:r>
                        <a:rPr sz="1650" b="1">
                          <a:solidFill>
                            <a:srgbClr val="FFFFFF"/>
                          </a:solidFill>
                          <a:latin typeface="Arial"/>
                          <a:ea typeface="Arial"/>
                          <a:cs typeface="Arial"/>
                        </a:rPr>
                        <a:t>Lower rating</a:t>
                      </a:r>
                    </a:p>
                  </a:txBody>
                  <a:tcPr marL="91440" marR="91440" marT="45720" marB="45720">
                    <a:solidFill>
                      <a:srgbClr val="226A5B"/>
                    </a:solidFill>
                  </a:tcPr>
                </a:tc>
                <a:tc>
                  <a:txBody>
                    <a:bodyPr/>
                    <a:lstStyle/>
                    <a:p>
                      <a:r>
                        <a:rPr sz="1650" b="1">
                          <a:solidFill>
                            <a:srgbClr val="FFFFFF"/>
                          </a:solidFill>
                          <a:latin typeface="Arial"/>
                          <a:ea typeface="Arial"/>
                          <a:cs typeface="Arial"/>
                        </a:rPr>
                        <a:t>Middle rating</a:t>
                      </a:r>
                    </a:p>
                  </a:txBody>
                  <a:tcPr marL="91440" marR="91440" marT="45720" marB="45720">
                    <a:solidFill>
                      <a:srgbClr val="226A5B"/>
                    </a:solidFill>
                  </a:tcPr>
                </a:tc>
                <a:tc>
                  <a:txBody>
                    <a:bodyPr/>
                    <a:lstStyle/>
                    <a:p>
                      <a:r>
                        <a:rPr sz="1650" b="1">
                          <a:solidFill>
                            <a:srgbClr val="FFFFFF"/>
                          </a:solidFill>
                          <a:latin typeface="Arial"/>
                          <a:ea typeface="Arial"/>
                          <a:cs typeface="Arial"/>
                        </a:rPr>
                        <a:t>Higher rating</a:t>
                      </a:r>
                    </a:p>
                  </a:txBody>
                  <a:tcPr marL="91440" marR="91440" marT="45720" marB="45720">
                    <a:solidFill>
                      <a:srgbClr val="226A5B"/>
                    </a:solidFill>
                  </a:tcPr>
                </a:tc>
              </a:tr>
              <a:tr h="666750">
                <a:tc>
                  <a:txBody>
                    <a:bodyPr/>
                    <a:lstStyle/>
                    <a:p>
                      <a:r>
                        <a:rPr sz="1650" b="0">
                          <a:solidFill>
                            <a:srgbClr val="203549"/>
                          </a:solidFill>
                          <a:latin typeface="Arial"/>
                          <a:ea typeface="Arial"/>
                          <a:cs typeface="Arial"/>
                        </a:rPr>
                        <a:t>JVM support</a:t>
                      </a:r>
                    </a:p>
                  </a:txBody>
                  <a:tcPr marL="91440" marR="91440" marT="45720" marB="45720">
                    <a:solidFill>
                      <a:srgbClr val="F1F5F7"/>
                    </a:solidFill>
                  </a:tcPr>
                </a:tc>
                <a:tc>
                  <a:txBody>
                    <a:bodyPr/>
                    <a:lstStyle/>
                    <a:p>
                      <a:r>
                        <a:rPr sz="1650" b="0">
                          <a:solidFill>
                            <a:srgbClr val="203549"/>
                          </a:solidFill>
                          <a:latin typeface="Arial"/>
                          <a:ea typeface="Arial"/>
                          <a:cs typeface="Arial"/>
                        </a:rPr>
                        <a:t>Current supported LTS</a:t>
                      </a:r>
                    </a:p>
                  </a:txBody>
                  <a:tcPr marL="91440" marR="91440" marT="45720" marB="45720">
                    <a:solidFill>
                      <a:srgbClr val="F1F5F7"/>
                    </a:solidFill>
                  </a:tcPr>
                </a:tc>
                <a:tc>
                  <a:txBody>
                    <a:bodyPr/>
                    <a:lstStyle/>
                    <a:p>
                      <a:r>
                        <a:rPr sz="1650" b="0">
                          <a:solidFill>
                            <a:srgbClr val="203549"/>
                          </a:solidFill>
                          <a:latin typeface="Arial"/>
                          <a:ea typeface="Arial"/>
                          <a:cs typeface="Arial"/>
                        </a:rPr>
                        <a:t>Older supported LTS</a:t>
                      </a:r>
                    </a:p>
                  </a:txBody>
                  <a:tcPr marL="91440" marR="91440" marT="45720" marB="45720">
                    <a:solidFill>
                      <a:srgbClr val="F1F5F7"/>
                    </a:solidFill>
                  </a:tcPr>
                </a:tc>
                <a:tc>
                  <a:txBody>
                    <a:bodyPr/>
                    <a:lstStyle/>
                    <a:p>
                      <a:r>
                        <a:rPr sz="1650" b="0">
                          <a:solidFill>
                            <a:srgbClr val="203549"/>
                          </a:solidFill>
                          <a:latin typeface="Arial"/>
                          <a:ea typeface="Arial"/>
                          <a:cs typeface="Arial"/>
                        </a:rPr>
                        <a:t>Unsupported</a:t>
                      </a:r>
                    </a:p>
                  </a:txBody>
                  <a:tcPr marL="91440" marR="91440" marT="45720" marB="45720">
                    <a:solidFill>
                      <a:srgbClr val="F1F5F7"/>
                    </a:solidFill>
                  </a:tcPr>
                </a:tc>
              </a:tr>
              <a:tr h="666750">
                <a:tc>
                  <a:txBody>
                    <a:bodyPr/>
                    <a:lstStyle/>
                    <a:p>
                      <a:r>
                        <a:rPr sz="1650" b="0">
                          <a:solidFill>
                            <a:srgbClr val="203549"/>
                          </a:solidFill>
                          <a:latin typeface="Arial"/>
                          <a:ea typeface="Arial"/>
                          <a:cs typeface="Arial"/>
                        </a:rPr>
                        <a:t>Spring Boot support</a:t>
                      </a:r>
                    </a:p>
                  </a:txBody>
                  <a:tcPr marL="91440" marR="91440" marT="45720" marB="45720">
                    <a:solidFill>
                      <a:srgbClr val="FFFFFF"/>
                    </a:solidFill>
                  </a:tcPr>
                </a:tc>
                <a:tc>
                  <a:txBody>
                    <a:bodyPr/>
                    <a:lstStyle/>
                    <a:p>
                      <a:r>
                        <a:rPr sz="1650" b="0">
                          <a:solidFill>
                            <a:srgbClr val="203549"/>
                          </a:solidFill>
                          <a:latin typeface="Arial"/>
                          <a:ea typeface="Arial"/>
                          <a:cs typeface="Arial"/>
                        </a:rPr>
                        <a:t>Current supported</a:t>
                      </a:r>
                    </a:p>
                  </a:txBody>
                  <a:tcPr marL="91440" marR="91440" marT="45720" marB="45720">
                    <a:solidFill>
                      <a:srgbClr val="FFFFFF"/>
                    </a:solidFill>
                  </a:tcPr>
                </a:tc>
                <a:tc>
                  <a:txBody>
                    <a:bodyPr/>
                    <a:lstStyle/>
                    <a:p>
                      <a:r>
                        <a:rPr sz="1650" b="0">
                          <a:solidFill>
                            <a:srgbClr val="203549"/>
                          </a:solidFill>
                          <a:latin typeface="Arial"/>
                          <a:ea typeface="Arial"/>
                          <a:cs typeface="Arial"/>
                        </a:rPr>
                        <a:t>Older supported</a:t>
                      </a:r>
                    </a:p>
                  </a:txBody>
                  <a:tcPr marL="91440" marR="91440" marT="45720" marB="45720">
                    <a:solidFill>
                      <a:srgbClr val="FFFFFF"/>
                    </a:solidFill>
                  </a:tcPr>
                </a:tc>
                <a:tc>
                  <a:txBody>
                    <a:bodyPr/>
                    <a:lstStyle/>
                    <a:p>
                      <a:r>
                        <a:rPr sz="1650" b="0">
                          <a:solidFill>
                            <a:srgbClr val="203549"/>
                          </a:solidFill>
                          <a:latin typeface="Arial"/>
                          <a:ea typeface="Arial"/>
                          <a:cs typeface="Arial"/>
                        </a:rPr>
                        <a:t>Unsupported</a:t>
                      </a:r>
                    </a:p>
                  </a:txBody>
                  <a:tcPr marL="91440" marR="91440" marT="45720" marB="45720">
                    <a:solidFill>
                      <a:srgbClr val="FFFFFF"/>
                    </a:solidFill>
                  </a:tcPr>
                </a:tc>
              </a:tr>
              <a:tr h="666750">
                <a:tc>
                  <a:txBody>
                    <a:bodyPr/>
                    <a:lstStyle/>
                    <a:p>
                      <a:r>
                        <a:rPr sz="1650" b="0">
                          <a:solidFill>
                            <a:srgbClr val="203549"/>
                          </a:solidFill>
                          <a:latin typeface="Arial"/>
                          <a:ea typeface="Arial"/>
                          <a:cs typeface="Arial"/>
                        </a:rPr>
                        <a:t>Integration tests</a:t>
                      </a:r>
                    </a:p>
                  </a:txBody>
                  <a:tcPr marL="91440" marR="91440" marT="45720" marB="45720">
                    <a:solidFill>
                      <a:srgbClr val="F1F5F7"/>
                    </a:solidFill>
                  </a:tcPr>
                </a:tc>
                <a:tc>
                  <a:txBody>
                    <a:bodyPr/>
                    <a:lstStyle/>
                    <a:p>
                      <a:r>
                        <a:rPr sz="1650" b="0">
                          <a:solidFill>
                            <a:srgbClr val="203549"/>
                          </a:solidFill>
                          <a:latin typeface="Arial"/>
                          <a:ea typeface="Arial"/>
                          <a:cs typeface="Arial"/>
                        </a:rPr>
                        <a:t>Good coverage</a:t>
                      </a:r>
                    </a:p>
                  </a:txBody>
                  <a:tcPr marL="91440" marR="91440" marT="45720" marB="45720">
                    <a:solidFill>
                      <a:srgbClr val="F1F5F7"/>
                    </a:solidFill>
                  </a:tcPr>
                </a:tc>
                <a:tc>
                  <a:txBody>
                    <a:bodyPr/>
                    <a:lstStyle/>
                    <a:p>
                      <a:r>
                        <a:rPr sz="1650" b="0">
                          <a:solidFill>
                            <a:srgbClr val="203549"/>
                          </a:solidFill>
                          <a:latin typeface="Arial"/>
                          <a:ea typeface="Arial"/>
                          <a:cs typeface="Arial"/>
                        </a:rPr>
                        <a:t>Partial coverage</a:t>
                      </a:r>
                    </a:p>
                  </a:txBody>
                  <a:tcPr marL="91440" marR="91440" marT="45720" marB="45720">
                    <a:solidFill>
                      <a:srgbClr val="F1F5F7"/>
                    </a:solidFill>
                  </a:tcPr>
                </a:tc>
                <a:tc>
                  <a:txBody>
                    <a:bodyPr/>
                    <a:lstStyle/>
                    <a:p>
                      <a:r>
                        <a:rPr sz="1650" b="0">
                          <a:solidFill>
                            <a:srgbClr val="203549"/>
                          </a:solidFill>
                          <a:latin typeface="Arial"/>
                          <a:ea typeface="Arial"/>
                          <a:cs typeface="Arial"/>
                        </a:rPr>
                        <a:t>Missing coverage</a:t>
                      </a:r>
                    </a:p>
                  </a:txBody>
                  <a:tcPr marL="91440" marR="91440" marT="45720" marB="45720">
                    <a:solidFill>
                      <a:srgbClr val="F1F5F7"/>
                    </a:solidFill>
                  </a:tcPr>
                </a:tc>
              </a:tr>
              <a:tr h="666750">
                <a:tc>
                  <a:txBody>
                    <a:bodyPr/>
                    <a:lstStyle/>
                    <a:p>
                      <a:r>
                        <a:rPr sz="1650" b="0">
                          <a:solidFill>
                            <a:srgbClr val="203549"/>
                          </a:solidFill>
                          <a:latin typeface="Arial"/>
                          <a:ea typeface="Arial"/>
                          <a:cs typeface="Arial"/>
                        </a:rPr>
                        <a:t>Security findings</a:t>
                      </a:r>
                    </a:p>
                  </a:txBody>
                  <a:tcPr marL="91440" marR="91440" marT="45720" marB="45720">
                    <a:solidFill>
                      <a:srgbClr val="FFFFFF"/>
                    </a:solidFill>
                  </a:tcPr>
                </a:tc>
                <a:tc>
                  <a:txBody>
                    <a:bodyPr/>
                    <a:lstStyle/>
                    <a:p>
                      <a:r>
                        <a:rPr sz="1650" b="0">
                          <a:solidFill>
                            <a:srgbClr val="203549"/>
                          </a:solidFill>
                          <a:latin typeface="Arial"/>
                          <a:ea typeface="Arial"/>
                          <a:cs typeface="Arial"/>
                        </a:rPr>
                        <a:t>No open High/Critical</a:t>
                      </a:r>
                    </a:p>
                  </a:txBody>
                  <a:tcPr marL="91440" marR="91440" marT="45720" marB="45720">
                    <a:solidFill>
                      <a:srgbClr val="FFFFFF"/>
                    </a:solidFill>
                  </a:tcPr>
                </a:tc>
                <a:tc>
                  <a:txBody>
                    <a:bodyPr/>
                    <a:lstStyle/>
                    <a:p>
                      <a:r>
                        <a:rPr sz="1650" b="0">
                          <a:solidFill>
                            <a:srgbClr val="203549"/>
                          </a:solidFill>
                          <a:latin typeface="Arial"/>
                          <a:ea typeface="Arial"/>
                          <a:cs typeface="Arial"/>
                        </a:rPr>
                        <a:t>A few High findings</a:t>
                      </a:r>
                    </a:p>
                  </a:txBody>
                  <a:tcPr marL="91440" marR="91440" marT="45720" marB="45720">
                    <a:solidFill>
                      <a:srgbClr val="FFFFFF"/>
                    </a:solidFill>
                  </a:tcPr>
                </a:tc>
                <a:tc>
                  <a:txBody>
                    <a:bodyPr/>
                    <a:lstStyle/>
                    <a:p>
                      <a:r>
                        <a:rPr sz="1650" b="0">
                          <a:solidFill>
                            <a:srgbClr val="203549"/>
                          </a:solidFill>
                          <a:latin typeface="Arial"/>
                          <a:ea typeface="Arial"/>
                          <a:cs typeface="Arial"/>
                        </a:rPr>
                        <a:t>Critical or many High</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647C7C3-6C0E-4F5B-B6A6-3346A2425C74}"/>
              </a:ext>
            </a:extLst>
          </p:cNvPr>
          <p:cNvSpPr>
            <a:spLocks xmlns:a="http://schemas.openxmlformats.org/drawingml/2006/main" noGrp="1"/>
          </p:cNvSpPr>
          <p:nvPr/>
        </p:nvSpPr>
        <p:spPr>
          <a:xfrm xmlns:a="http://schemas.openxmlformats.org/drawingml/2006/main">
            <a:off x="666750" y="5667375"/>
            <a:ext cx="1057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5B6F80"/>
                </a:solidFill>
                <a:latin typeface="Arial"/>
                <a:ea typeface="Arial"/>
                <a:cs typeface="Arial"/>
              </a:defRPr>
            </a:defPPr>
          </a:lstStyle>
          <a:p xmlns:a="http://schemas.openxmlformats.org/drawingml/2006/main">
            <a:pPr>
              <a:defRPr sz="1650" b="0">
                <a:solidFill>
                  <a:srgbClr val="5B6F80"/>
                </a:solidFill>
                <a:latin typeface="Arial"/>
                <a:ea typeface="Arial"/>
                <a:cs typeface="Arial"/>
              </a:defRPr>
            </a:pPr>
            <a:r>
              <a:rPr sz="1650" b="0">
                <a:solidFill>
                  <a:srgbClr val="5B6F80"/>
                </a:solidFill>
                <a:latin typeface="Arial"/>
                <a:ea typeface="Arial"/>
                <a:cs typeface="Arial"/>
              </a:rPr>
              <a:t>Support status needs an agreed inventory source and measurement date.</a:t>
            </a:r>
          </a:p>
          <a:p xmlns:a="http://schemas.openxmlformats.org/drawingml/2006/main">
            <a:pPr>
              <a:defRPr sz="1650" b="0">
                <a:solidFill>
                  <a:srgbClr val="5B6F80"/>
                </a:solidFill>
                <a:latin typeface="Arial"/>
                <a:ea typeface="Arial"/>
                <a:cs typeface="Arial"/>
              </a:defRPr>
            </a:pPr>
            <a:r>
              <a:rPr sz="1650" b="0">
                <a:solidFill>
                  <a:srgbClr val="5B6F80"/>
                </a:solidFill>
                <a:latin typeface="Arial"/>
                <a:ea typeface="Arial"/>
                <a:cs typeface="Arial"/>
              </a:rPr>
              <a:t>The CLI uses minimum-version policy checks unless external status data is supplied.</a:t>
            </a:r>
          </a:p>
        </p:txBody>
      </p:sp>
    </p:spTree>
    <p:extLst>
      <p:ext uri="{BB962C8B-B14F-4D97-AF65-F5344CB8AC3E}">
        <p14:creationId xmlns:p14="http://schemas.microsoft.com/office/powerpoint/2010/main" val="17899842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554DBC-6EC7-43CE-BB86-4FB7BAE94B11}"/>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226A5B"/>
                </a:solidFill>
                <a:latin typeface="Arial"/>
                <a:ea typeface="Arial"/>
                <a:cs typeface="Arial"/>
              </a:defRPr>
            </a:defPPr>
          </a:lstStyle>
          <a:p xmlns:a="http://schemas.openxmlformats.org/drawingml/2006/main">
            <a:pPr>
              <a:defRPr sz="1275" b="1">
                <a:solidFill>
                  <a:srgbClr val="226A5B"/>
                </a:solidFill>
                <a:latin typeface="Arial"/>
                <a:ea typeface="Arial"/>
                <a:cs typeface="Arial"/>
              </a:defRPr>
            </a:pPr>
            <a:r>
              <a:rPr sz="1275" b="1">
                <a:solidFill>
                  <a:srgbClr val="226A5B"/>
                </a:solidFill>
                <a:latin typeface="Arial"/>
                <a:ea typeface="Arial"/>
                <a:cs typeface="Arial"/>
              </a:rPr>
              <a:t>SECTION 3</a:t>
            </a:r>
          </a:p>
        </p:txBody>
      </p:sp>
      <p:sp>
        <p:nvSpPr>
          <p:cNvPr id="2" name="">
            <a:extLst xmlns:a="http://schemas.openxmlformats.org/drawingml/2006/main">
              <a:ext uri="{FF2B5EF4-FFF2-40B4-BE49-F238E27FC236}">
                <a16:creationId xmlns:a16="http://schemas.microsoft.com/office/drawing/2014/main" id="{DB6E735D-6EE5-434D-B1DD-5A471AF3F03B}"/>
              </a:ext>
            </a:extLst>
          </p:cNvPr>
          <p:cNvSpPr>
            <a:spLocks xmlns:a="http://schemas.openxmlformats.org/drawingml/2006/main" noGrp="1"/>
          </p:cNvSpPr>
          <p:nvPr/>
        </p:nvSpPr>
        <p:spPr>
          <a:xfrm xmlns:a="http://schemas.openxmlformats.org/drawingml/2006/main">
            <a:off x="609600" y="828675"/>
            <a:ext cx="1095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203549"/>
                </a:solidFill>
                <a:latin typeface="Arial"/>
                <a:ea typeface="Arial"/>
                <a:cs typeface="Arial"/>
              </a:defRPr>
            </a:defPPr>
          </a:lstStyle>
          <a:p xmlns:a="http://schemas.openxmlformats.org/drawingml/2006/main">
            <a:pPr>
              <a:defRPr sz="3000" b="1">
                <a:solidFill>
                  <a:srgbClr val="203549"/>
                </a:solidFill>
                <a:latin typeface="Arial"/>
                <a:ea typeface="Arial"/>
                <a:cs typeface="Arial"/>
              </a:defRPr>
            </a:pPr>
            <a:r>
              <a:rPr sz="3000" b="1">
                <a:solidFill>
                  <a:srgbClr val="203549"/>
                </a:solidFill>
                <a:latin typeface="Arial"/>
                <a:ea typeface="Arial"/>
                <a:cs typeface="Arial"/>
              </a:rPr>
              <a:t>Criteria requiring a shared assessment rubric</a:t>
            </a:r>
          </a:p>
        </p:txBody>
      </p:sp>
      <p:sp>
        <p:nvSpPr>
          <p:cNvPr id="3" name="">
            <a:extLst xmlns:a="http://schemas.openxmlformats.org/drawingml/2006/main">
              <a:ext uri="{FF2B5EF4-FFF2-40B4-BE49-F238E27FC236}">
                <a16:creationId xmlns:a16="http://schemas.microsoft.com/office/drawing/2014/main" id="{1246A35D-7D61-4BCC-BDF7-4C6C4176E174}"/>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B6F80"/>
                </a:solidFill>
                <a:latin typeface="Arial"/>
                <a:ea typeface="Arial"/>
                <a:cs typeface="Arial"/>
              </a:defRPr>
            </a:defPPr>
          </a:lstStyle>
          <a:p xmlns:a="http://schemas.openxmlformats.org/drawingml/2006/main">
            <a:pPr>
              <a:defRPr sz="1125" b="0">
                <a:solidFill>
                  <a:srgbClr val="5B6F80"/>
                </a:solidFill>
                <a:latin typeface="Arial"/>
                <a:ea typeface="Arial"/>
                <a:cs typeface="Arial"/>
              </a:defRPr>
            </a:pPr>
            <a:r>
              <a:rPr sz="1125" b="0">
                <a:solidFill>
                  <a:srgbClr val="5B6F8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C32C2477-FD66-4D60-BABE-960855F00DC4}"/>
              </a:ext>
            </a:extLst>
          </p:cNvPr>
          <p:cNvSpPr>
            <a:spLocks xmlns:a="http://schemas.openxmlformats.org/drawingml/2006/main" noGrp="1"/>
          </p:cNvSpPr>
          <p:nvPr/>
        </p:nvSpPr>
        <p:spPr>
          <a:xfrm xmlns:a="http://schemas.openxmlformats.org/drawingml/2006/main">
            <a:off x="666750" y="19050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226A5B"/>
                </a:solidFill>
                <a:latin typeface="Arial"/>
                <a:ea typeface="Arial"/>
                <a:cs typeface="Arial"/>
              </a:defRPr>
            </a:defPPr>
          </a:lstStyle>
          <a:p xmlns:a="http://schemas.openxmlformats.org/drawingml/2006/main">
            <a:pPr>
              <a:defRPr sz="2100" b="1">
                <a:solidFill>
                  <a:srgbClr val="226A5B"/>
                </a:solidFill>
                <a:latin typeface="Arial"/>
                <a:ea typeface="Arial"/>
                <a:cs typeface="Arial"/>
              </a:defRPr>
            </a:pPr>
            <a:r>
              <a:rPr sz="2100" b="1">
                <a:solidFill>
                  <a:srgbClr val="226A5B"/>
                </a:solidFill>
                <a:latin typeface="Arial"/>
                <a:ea typeface="Arial"/>
                <a:cs typeface="Arial"/>
              </a:rPr>
              <a:t>Code and design</a:t>
            </a:r>
          </a:p>
        </p:txBody>
      </p:sp>
      <p:sp>
        <p:nvSpPr>
          <p:cNvPr id="5" name="">
            <a:extLst xmlns:a="http://schemas.openxmlformats.org/drawingml/2006/main">
              <a:ext uri="{FF2B5EF4-FFF2-40B4-BE49-F238E27FC236}">
                <a16:creationId xmlns:a16="http://schemas.microsoft.com/office/drawing/2014/main" id="{DFF1207E-D76E-454F-B2DD-7F131F501C04}"/>
              </a:ext>
            </a:extLst>
          </p:cNvPr>
          <p:cNvSpPr>
            <a:spLocks xmlns:a="http://schemas.openxmlformats.org/drawingml/2006/main" noGrp="1"/>
          </p:cNvSpPr>
          <p:nvPr/>
        </p:nvSpPr>
        <p:spPr>
          <a:xfrm xmlns:a="http://schemas.openxmlformats.org/drawingml/2006/main">
            <a:off x="666750" y="2400300"/>
            <a:ext cx="1047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03549"/>
                </a:solidFill>
                <a:latin typeface="Arial"/>
                <a:ea typeface="Arial"/>
                <a:cs typeface="Arial"/>
              </a:defRPr>
            </a:defPPr>
          </a:lstStyle>
          <a:p xmlns:a="http://schemas.openxmlformats.org/drawingml/2006/main">
            <a:pPr>
              <a:defRPr sz="1875" b="0">
                <a:solidFill>
                  <a:srgbClr val="203549"/>
                </a:solidFill>
                <a:latin typeface="Arial"/>
                <a:ea typeface="Arial"/>
                <a:cs typeface="Arial"/>
              </a:defRPr>
            </a:pPr>
            <a:r>
              <a:rPr sz="1875" b="0">
                <a:solidFill>
                  <a:srgbClr val="203549"/>
                </a:solidFill>
                <a:latin typeface="Arial"/>
                <a:ea typeface="Arial"/>
                <a:cs typeface="Arial"/>
              </a:rPr>
              <a:t>Cyclomatic complexity, technical debt and database complexity need</a:t>
            </a:r>
          </a:p>
          <a:p xmlns:a="http://schemas.openxmlformats.org/drawingml/2006/main">
            <a:pPr>
              <a:defRPr sz="1875" b="0">
                <a:solidFill>
                  <a:srgbClr val="203549"/>
                </a:solidFill>
                <a:latin typeface="Arial"/>
                <a:ea typeface="Arial"/>
                <a:cs typeface="Arial"/>
              </a:defRPr>
            </a:pPr>
            <a:r>
              <a:rPr sz="1875" b="0">
                <a:solidFill>
                  <a:srgbClr val="203549"/>
                </a:solidFill>
                <a:latin typeface="Arial"/>
                <a:ea typeface="Arial"/>
                <a:cs typeface="Arial"/>
              </a:rPr>
              <a:t>consistent definitions for low, medium and high ratings.</a:t>
            </a:r>
          </a:p>
        </p:txBody>
      </p:sp>
      <p:sp>
        <p:nvSpPr>
          <p:cNvPr id="6" name="">
            <a:extLst xmlns:a="http://schemas.openxmlformats.org/drawingml/2006/main">
              <a:ext uri="{FF2B5EF4-FFF2-40B4-BE49-F238E27FC236}">
                <a16:creationId xmlns:a16="http://schemas.microsoft.com/office/drawing/2014/main" id="{67DE51A2-F53B-430A-9E13-DB9963D3DDDA}"/>
              </a:ext>
            </a:extLst>
          </p:cNvPr>
          <p:cNvSpPr>
            <a:spLocks xmlns:a="http://schemas.openxmlformats.org/drawingml/2006/main" noGrp="1"/>
          </p:cNvSpPr>
          <p:nvPr/>
        </p:nvSpPr>
        <p:spPr>
          <a:xfrm xmlns:a="http://schemas.openxmlformats.org/drawingml/2006/main">
            <a:off x="666750" y="390525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226A5B"/>
                </a:solidFill>
                <a:latin typeface="Arial"/>
                <a:ea typeface="Arial"/>
                <a:cs typeface="Arial"/>
              </a:defRPr>
            </a:defPPr>
          </a:lstStyle>
          <a:p xmlns:a="http://schemas.openxmlformats.org/drawingml/2006/main">
            <a:pPr>
              <a:defRPr sz="2100" b="1">
                <a:solidFill>
                  <a:srgbClr val="226A5B"/>
                </a:solidFill>
                <a:latin typeface="Arial"/>
                <a:ea typeface="Arial"/>
                <a:cs typeface="Arial"/>
              </a:defRPr>
            </a:pPr>
            <a:r>
              <a:rPr sz="2100" b="1">
                <a:solidFill>
                  <a:srgbClr val="226A5B"/>
                </a:solidFill>
                <a:latin typeface="Arial"/>
                <a:ea typeface="Arial"/>
                <a:cs typeface="Arial"/>
              </a:rPr>
              <a:t>Operations and change</a:t>
            </a:r>
          </a:p>
        </p:txBody>
      </p:sp>
      <p:sp>
        <p:nvSpPr>
          <p:cNvPr id="7" name="">
            <a:extLst xmlns:a="http://schemas.openxmlformats.org/drawingml/2006/main">
              <a:ext uri="{FF2B5EF4-FFF2-40B4-BE49-F238E27FC236}">
                <a16:creationId xmlns:a16="http://schemas.microsoft.com/office/drawing/2014/main" id="{64EB17FA-53FA-4C1D-AE14-151AD236EF3E}"/>
              </a:ext>
            </a:extLst>
          </p:cNvPr>
          <p:cNvSpPr>
            <a:spLocks xmlns:a="http://schemas.openxmlformats.org/drawingml/2006/main" noGrp="1"/>
          </p:cNvSpPr>
          <p:nvPr/>
        </p:nvSpPr>
        <p:spPr>
          <a:xfrm xmlns:a="http://schemas.openxmlformats.org/drawingml/2006/main">
            <a:off x="666750" y="4400550"/>
            <a:ext cx="1047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03549"/>
                </a:solidFill>
                <a:latin typeface="Arial"/>
                <a:ea typeface="Arial"/>
                <a:cs typeface="Arial"/>
              </a:defRPr>
            </a:defPPr>
          </a:lstStyle>
          <a:p xmlns:a="http://schemas.openxmlformats.org/drawingml/2006/main">
            <a:pPr>
              <a:defRPr sz="1875" b="0">
                <a:solidFill>
                  <a:srgbClr val="203549"/>
                </a:solidFill>
                <a:latin typeface="Arial"/>
                <a:ea typeface="Arial"/>
                <a:cs typeface="Arial"/>
              </a:defRPr>
            </a:pPr>
            <a:r>
              <a:rPr sz="1875" b="0">
                <a:solidFill>
                  <a:srgbClr val="203549"/>
                </a:solidFill>
                <a:latin typeface="Arial"/>
                <a:ea typeface="Arial"/>
                <a:cs typeface="Arial"/>
              </a:rPr>
              <a:t>Architecture/deployment complexity and change frequency also require</a:t>
            </a:r>
          </a:p>
          <a:p xmlns:a="http://schemas.openxmlformats.org/drawingml/2006/main">
            <a:pPr>
              <a:defRPr sz="1875" b="0">
                <a:solidFill>
                  <a:srgbClr val="203549"/>
                </a:solidFill>
                <a:latin typeface="Arial"/>
                <a:ea typeface="Arial"/>
                <a:cs typeface="Arial"/>
              </a:defRPr>
            </a:pPr>
            <a:r>
              <a:rPr sz="1875" b="0">
                <a:solidFill>
                  <a:srgbClr val="203549"/>
                </a:solidFill>
                <a:latin typeface="Arial"/>
                <a:ea typeface="Arial"/>
                <a:cs typeface="Arial"/>
              </a:rPr>
              <a:t>measurable rules and a shared history window.</a:t>
            </a:r>
          </a:p>
        </p:txBody>
      </p:sp>
    </p:spTree>
    <p:extLst>
      <p:ext uri="{BB962C8B-B14F-4D97-AF65-F5344CB8AC3E}">
        <p14:creationId xmlns:p14="http://schemas.microsoft.com/office/powerpoint/2010/main" val="9000091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7A8B03-80E5-4942-B928-9388722D31DB}"/>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226A5B"/>
                </a:solidFill>
                <a:latin typeface="Arial"/>
                <a:ea typeface="Arial"/>
                <a:cs typeface="Arial"/>
              </a:defRPr>
            </a:defPPr>
          </a:lstStyle>
          <a:p xmlns:a="http://schemas.openxmlformats.org/drawingml/2006/main">
            <a:pPr>
              <a:defRPr sz="1275" b="1">
                <a:solidFill>
                  <a:srgbClr val="226A5B"/>
                </a:solidFill>
                <a:latin typeface="Arial"/>
                <a:ea typeface="Arial"/>
                <a:cs typeface="Arial"/>
              </a:defRPr>
            </a:pPr>
            <a:r>
              <a:rPr sz="1275" b="1">
                <a:solidFill>
                  <a:srgbClr val="226A5B"/>
                </a:solidFill>
                <a:latin typeface="Arial"/>
                <a:ea typeface="Arial"/>
                <a:cs typeface="Arial"/>
              </a:rPr>
              <a:t>SECTION 5</a:t>
            </a:r>
          </a:p>
        </p:txBody>
      </p:sp>
      <p:sp>
        <p:nvSpPr>
          <p:cNvPr id="2" name="">
            <a:extLst xmlns:a="http://schemas.openxmlformats.org/drawingml/2006/main">
              <a:ext uri="{FF2B5EF4-FFF2-40B4-BE49-F238E27FC236}">
                <a16:creationId xmlns:a16="http://schemas.microsoft.com/office/drawing/2014/main" id="{5A84B68B-5998-41F7-815C-F61374DD4833}"/>
              </a:ext>
            </a:extLst>
          </p:cNvPr>
          <p:cNvSpPr>
            <a:spLocks xmlns:a="http://schemas.openxmlformats.org/drawingml/2006/main" noGrp="1"/>
          </p:cNvSpPr>
          <p:nvPr/>
        </p:nvSpPr>
        <p:spPr>
          <a:xfrm xmlns:a="http://schemas.openxmlformats.org/drawingml/2006/main">
            <a:off x="609600" y="828675"/>
            <a:ext cx="1095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203549"/>
                </a:solidFill>
                <a:latin typeface="Arial"/>
                <a:ea typeface="Arial"/>
                <a:cs typeface="Arial"/>
              </a:defRPr>
            </a:defPPr>
          </a:lstStyle>
          <a:p xmlns:a="http://schemas.openxmlformats.org/drawingml/2006/main">
            <a:pPr>
              <a:defRPr sz="3000" b="1">
                <a:solidFill>
                  <a:srgbClr val="203549"/>
                </a:solidFill>
                <a:latin typeface="Arial"/>
                <a:ea typeface="Arial"/>
                <a:cs typeface="Arial"/>
              </a:defRPr>
            </a:pPr>
            <a:r>
              <a:rPr sz="3000" b="1">
                <a:solidFill>
                  <a:srgbClr val="203549"/>
                </a:solidFill>
                <a:latin typeface="Arial"/>
                <a:ea typeface="Arial"/>
                <a:cs typeface="Arial"/>
              </a:rPr>
              <a:t>Four proposed complexity classes</a:t>
            </a:r>
          </a:p>
        </p:txBody>
      </p:sp>
      <p:sp>
        <p:nvSpPr>
          <p:cNvPr id="3" name="">
            <a:extLst xmlns:a="http://schemas.openxmlformats.org/drawingml/2006/main">
              <a:ext uri="{FF2B5EF4-FFF2-40B4-BE49-F238E27FC236}">
                <a16:creationId xmlns:a16="http://schemas.microsoft.com/office/drawing/2014/main" id="{883FFBED-DF5A-4E70-816F-49CB88653D11}"/>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B6F80"/>
                </a:solidFill>
                <a:latin typeface="Arial"/>
                <a:ea typeface="Arial"/>
                <a:cs typeface="Arial"/>
              </a:defRPr>
            </a:defPPr>
          </a:lstStyle>
          <a:p xmlns:a="http://schemas.openxmlformats.org/drawingml/2006/main">
            <a:pPr>
              <a:defRPr sz="1125" b="0">
                <a:solidFill>
                  <a:srgbClr val="5B6F80"/>
                </a:solidFill>
                <a:latin typeface="Arial"/>
                <a:ea typeface="Arial"/>
                <a:cs typeface="Arial"/>
              </a:defRPr>
            </a:pPr>
            <a:r>
              <a:rPr sz="1125" b="0">
                <a:solidFill>
                  <a:srgbClr val="5B6F80"/>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9955F75C-5DDF-4AF1-900C-231FB36B7780}"/>
              </a:ext>
            </a:extLst>
          </p:cNvPr>
          <p:cNvGraphicFramePr/>
          <p:nvPr/>
        </p:nvGraphicFramePr>
        <p:xfrm>
          <a:off xmlns:a="http://schemas.openxmlformats.org/drawingml/2006/main" x="619125" y="1809750"/>
          <a:ext xmlns:a="http://schemas.openxmlformats.org/drawingml/2006/main" cx="10953750" cy="3333750"/>
        </p:xfrm>
        <a:graphic xmlns:a="http://schemas.openxmlformats.org/drawingml/2006/main">
          <a:graphicData uri="http://schemas.openxmlformats.org/drawingml/2006/table">
            <a:tbl>
              <a:tblPr/>
              <a:tblGrid>
                <a:gridCol w="2428875"/>
                <a:gridCol w="4191000"/>
                <a:gridCol w="4333875"/>
              </a:tblGrid>
              <a:tr h="666750">
                <a:tc>
                  <a:txBody>
                    <a:bodyPr/>
                    <a:lstStyle/>
                    <a:p>
                      <a:r>
                        <a:rPr sz="1725" b="1">
                          <a:solidFill>
                            <a:srgbClr val="FFFFFF"/>
                          </a:solidFill>
                          <a:latin typeface="Arial"/>
                          <a:ea typeface="Arial"/>
                          <a:cs typeface="Arial"/>
                        </a:rPr>
                        <a:t>Proposed class</a:t>
                      </a:r>
                    </a:p>
                  </a:txBody>
                  <a:tcPr marL="91440" marR="91440" marT="45720" marB="45720">
                    <a:solidFill>
                      <a:srgbClr val="226A5B"/>
                    </a:solidFill>
                  </a:tcPr>
                </a:tc>
                <a:tc>
                  <a:txBody>
                    <a:bodyPr/>
                    <a:lstStyle/>
                    <a:p>
                      <a:r>
                        <a:rPr sz="1725" b="1">
                          <a:solidFill>
                            <a:srgbClr val="FFFFFF"/>
                          </a:solidFill>
                          <a:latin typeface="Arial"/>
                          <a:ea typeface="Arial"/>
                          <a:cs typeface="Arial"/>
                        </a:rPr>
                        <a:t>Interpretation</a:t>
                      </a:r>
                    </a:p>
                  </a:txBody>
                  <a:tcPr marL="91440" marR="91440" marT="45720" marB="45720">
                    <a:solidFill>
                      <a:srgbClr val="226A5B"/>
                    </a:solidFill>
                  </a:tcPr>
                </a:tc>
                <a:tc>
                  <a:txBody>
                    <a:bodyPr/>
                    <a:lstStyle/>
                    <a:p>
                      <a:r>
                        <a:rPr sz="1725" b="1">
                          <a:solidFill>
                            <a:srgbClr val="FFFFFF"/>
                          </a:solidFill>
                          <a:latin typeface="Arial"/>
                          <a:ea typeface="Arial"/>
                          <a:cs typeface="Arial"/>
                        </a:rPr>
                        <a:t>Portfolio action</a:t>
                      </a:r>
                    </a:p>
                  </a:txBody>
                  <a:tcPr marL="91440" marR="91440" marT="45720" marB="45720">
                    <a:solidFill>
                      <a:srgbClr val="226A5B"/>
                    </a:solidFill>
                  </a:tcPr>
                </a:tc>
              </a:tr>
              <a:tr h="666750">
                <a:tc>
                  <a:txBody>
                    <a:bodyPr/>
                    <a:lstStyle/>
                    <a:p>
                      <a:r>
                        <a:rPr sz="1725" b="0">
                          <a:solidFill>
                            <a:srgbClr val="203549"/>
                          </a:solidFill>
                          <a:latin typeface="Arial"/>
                          <a:ea typeface="Arial"/>
                          <a:cs typeface="Arial"/>
                        </a:rPr>
                        <a:t>Low</a:t>
                      </a:r>
                    </a:p>
                  </a:txBody>
                  <a:tcPr marL="91440" marR="91440" marT="45720" marB="45720">
                    <a:solidFill>
                      <a:srgbClr val="F1F5F7"/>
                    </a:solidFill>
                  </a:tcPr>
                </a:tc>
                <a:tc>
                  <a:txBody>
                    <a:bodyPr/>
                    <a:lstStyle/>
                    <a:p>
                      <a:r>
                        <a:rPr sz="1725" b="0">
                          <a:solidFill>
                            <a:srgbClr val="203549"/>
                          </a:solidFill>
                          <a:latin typeface="Arial"/>
                          <a:ea typeface="Arial"/>
                          <a:cs typeface="Arial"/>
                        </a:rPr>
                        <a:t>Few complexity drivers</a:t>
                      </a:r>
                    </a:p>
                  </a:txBody>
                  <a:tcPr marL="91440" marR="91440" marT="45720" marB="45720">
                    <a:solidFill>
                      <a:srgbClr val="F1F5F7"/>
                    </a:solidFill>
                  </a:tcPr>
                </a:tc>
                <a:tc>
                  <a:txBody>
                    <a:bodyPr/>
                    <a:lstStyle/>
                    <a:p>
                      <a:r>
                        <a:rPr sz="1725" b="0">
                          <a:solidFill>
                            <a:srgbClr val="203549"/>
                          </a:solidFill>
                          <a:latin typeface="Arial"/>
                          <a:ea typeface="Arial"/>
                          <a:cs typeface="Arial"/>
                        </a:rPr>
                        <a:t>Standard maintenance</a:t>
                      </a:r>
                    </a:p>
                  </a:txBody>
                  <a:tcPr marL="91440" marR="91440" marT="45720" marB="45720">
                    <a:solidFill>
                      <a:srgbClr val="F1F5F7"/>
                    </a:solidFill>
                  </a:tcPr>
                </a:tc>
              </a:tr>
              <a:tr h="666750">
                <a:tc>
                  <a:txBody>
                    <a:bodyPr/>
                    <a:lstStyle/>
                    <a:p>
                      <a:r>
                        <a:rPr sz="1725" b="0">
                          <a:solidFill>
                            <a:srgbClr val="203549"/>
                          </a:solidFill>
                          <a:latin typeface="Arial"/>
                          <a:ea typeface="Arial"/>
                          <a:cs typeface="Arial"/>
                        </a:rPr>
                        <a:t>Moderate</a:t>
                      </a:r>
                    </a:p>
                  </a:txBody>
                  <a:tcPr marL="91440" marR="91440" marT="45720" marB="45720">
                    <a:solidFill>
                      <a:srgbClr val="FFFFFF"/>
                    </a:solidFill>
                  </a:tcPr>
                </a:tc>
                <a:tc>
                  <a:txBody>
                    <a:bodyPr/>
                    <a:lstStyle/>
                    <a:p>
                      <a:r>
                        <a:rPr sz="1725" b="0">
                          <a:solidFill>
                            <a:srgbClr val="203549"/>
                          </a:solidFill>
                          <a:latin typeface="Arial"/>
                          <a:ea typeface="Arial"/>
                          <a:cs typeface="Arial"/>
                        </a:rPr>
                        <a:t>Several interacting drivers</a:t>
                      </a:r>
                    </a:p>
                  </a:txBody>
                  <a:tcPr marL="91440" marR="91440" marT="45720" marB="45720">
                    <a:solidFill>
                      <a:srgbClr val="FFFFFF"/>
                    </a:solidFill>
                  </a:tcPr>
                </a:tc>
                <a:tc>
                  <a:txBody>
                    <a:bodyPr/>
                    <a:lstStyle/>
                    <a:p>
                      <a:r>
                        <a:rPr sz="1725" b="0">
                          <a:solidFill>
                            <a:srgbClr val="203549"/>
                          </a:solidFill>
                          <a:latin typeface="Arial"/>
                          <a:ea typeface="Arial"/>
                          <a:cs typeface="Arial"/>
                        </a:rPr>
                        <a:t>Targeted improvements</a:t>
                      </a:r>
                    </a:p>
                  </a:txBody>
                  <a:tcPr marL="91440" marR="91440" marT="45720" marB="45720">
                    <a:solidFill>
                      <a:srgbClr val="FFFFFF"/>
                    </a:solidFill>
                  </a:tcPr>
                </a:tc>
              </a:tr>
              <a:tr h="666750">
                <a:tc>
                  <a:txBody>
                    <a:bodyPr/>
                    <a:lstStyle/>
                    <a:p>
                      <a:r>
                        <a:rPr sz="1725" b="0">
                          <a:solidFill>
                            <a:srgbClr val="203549"/>
                          </a:solidFill>
                          <a:latin typeface="Arial"/>
                          <a:ea typeface="Arial"/>
                          <a:cs typeface="Arial"/>
                        </a:rPr>
                        <a:t>High</a:t>
                      </a:r>
                    </a:p>
                  </a:txBody>
                  <a:tcPr marL="91440" marR="91440" marT="45720" marB="45720">
                    <a:solidFill>
                      <a:srgbClr val="F1F5F7"/>
                    </a:solidFill>
                  </a:tcPr>
                </a:tc>
                <a:tc>
                  <a:txBody>
                    <a:bodyPr/>
                    <a:lstStyle/>
                    <a:p>
                      <a:r>
                        <a:rPr sz="1725" b="0">
                          <a:solidFill>
                            <a:srgbClr val="203549"/>
                          </a:solidFill>
                          <a:latin typeface="Arial"/>
                          <a:ea typeface="Arial"/>
                          <a:cs typeface="Arial"/>
                        </a:rPr>
                        <a:t>Multiple strong drivers</a:t>
                      </a:r>
                    </a:p>
                  </a:txBody>
                  <a:tcPr marL="91440" marR="91440" marT="45720" marB="45720">
                    <a:solidFill>
                      <a:srgbClr val="F1F5F7"/>
                    </a:solidFill>
                  </a:tcPr>
                </a:tc>
                <a:tc>
                  <a:txBody>
                    <a:bodyPr/>
                    <a:lstStyle/>
                    <a:p>
                      <a:r>
                        <a:rPr sz="1725" b="0">
                          <a:solidFill>
                            <a:srgbClr val="203549"/>
                          </a:solidFill>
                          <a:latin typeface="Arial"/>
                          <a:ea typeface="Arial"/>
                          <a:cs typeface="Arial"/>
                        </a:rPr>
                        <a:t>Planned remediation</a:t>
                      </a:r>
                    </a:p>
                  </a:txBody>
                  <a:tcPr marL="91440" marR="91440" marT="45720" marB="45720">
                    <a:solidFill>
                      <a:srgbClr val="F1F5F7"/>
                    </a:solidFill>
                  </a:tcPr>
                </a:tc>
              </a:tr>
              <a:tr h="666750">
                <a:tc>
                  <a:txBody>
                    <a:bodyPr/>
                    <a:lstStyle/>
                    <a:p>
                      <a:r>
                        <a:rPr sz="1725" b="0">
                          <a:solidFill>
                            <a:srgbClr val="203549"/>
                          </a:solidFill>
                          <a:latin typeface="Arial"/>
                          <a:ea typeface="Arial"/>
                          <a:cs typeface="Arial"/>
                        </a:rPr>
                        <a:t>Very high</a:t>
                      </a:r>
                    </a:p>
                  </a:txBody>
                  <a:tcPr marL="91440" marR="91440" marT="45720" marB="45720">
                    <a:solidFill>
                      <a:srgbClr val="FFFFFF"/>
                    </a:solidFill>
                  </a:tcPr>
                </a:tc>
                <a:tc>
                  <a:txBody>
                    <a:bodyPr/>
                    <a:lstStyle/>
                    <a:p>
                      <a:r>
                        <a:rPr sz="1725" b="0">
                          <a:solidFill>
                            <a:srgbClr val="203549"/>
                          </a:solidFill>
                          <a:latin typeface="Arial"/>
                          <a:ea typeface="Arial"/>
                          <a:cs typeface="Arial"/>
                        </a:rPr>
                        <a:t>Concentrated complexity</a:t>
                      </a:r>
                    </a:p>
                  </a:txBody>
                  <a:tcPr marL="91440" marR="91440" marT="45720" marB="45720">
                    <a:solidFill>
                      <a:srgbClr val="FFFFFF"/>
                    </a:solidFill>
                  </a:tcPr>
                </a:tc>
                <a:tc>
                  <a:txBody>
                    <a:bodyPr/>
                    <a:lstStyle/>
                    <a:p>
                      <a:r>
                        <a:rPr sz="1725" b="0">
                          <a:solidFill>
                            <a:srgbClr val="203549"/>
                          </a:solidFill>
                          <a:latin typeface="Arial"/>
                          <a:ea typeface="Arial"/>
                          <a:cs typeface="Arial"/>
                        </a:rPr>
                        <a:t>Architecture review</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8C74DEE-0D51-49D5-AC44-05FBC6BF7A08}"/>
              </a:ext>
            </a:extLst>
          </p:cNvPr>
          <p:cNvSpPr>
            <a:spLocks xmlns:a="http://schemas.openxmlformats.org/drawingml/2006/main" noGrp="1"/>
          </p:cNvSpPr>
          <p:nvPr/>
        </p:nvSpPr>
        <p:spPr>
          <a:xfrm xmlns:a="http://schemas.openxmlformats.org/drawingml/2006/main">
            <a:off x="666750" y="5524500"/>
            <a:ext cx="10572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B6F80"/>
                </a:solidFill>
                <a:latin typeface="Arial"/>
                <a:ea typeface="Arial"/>
                <a:cs typeface="Arial"/>
              </a:defRPr>
            </a:defPPr>
          </a:lstStyle>
          <a:p xmlns:a="http://schemas.openxmlformats.org/drawingml/2006/main">
            <a:pPr>
              <a:defRPr sz="1725" b="0">
                <a:solidFill>
                  <a:srgbClr val="5B6F80"/>
                </a:solidFill>
                <a:latin typeface="Arial"/>
                <a:ea typeface="Arial"/>
                <a:cs typeface="Arial"/>
              </a:defRPr>
            </a:pPr>
            <a:r>
              <a:rPr sz="1725" b="0">
                <a:solidFill>
                  <a:srgbClr val="5B6F80"/>
                </a:solidFill>
                <a:latin typeface="Arial"/>
                <a:ea typeface="Arial"/>
                <a:cs typeface="Arial"/>
              </a:rPr>
              <a:t>Class names and actions above are a proposed rubric. Numeric boundaries remain</a:t>
            </a:r>
          </a:p>
          <a:p xmlns:a="http://schemas.openxmlformats.org/drawingml/2006/main">
            <a:pPr>
              <a:defRPr sz="1725" b="0">
                <a:solidFill>
                  <a:srgbClr val="5B6F80"/>
                </a:solidFill>
                <a:latin typeface="Arial"/>
                <a:ea typeface="Arial"/>
                <a:cs typeface="Arial"/>
              </a:defRPr>
            </a:pPr>
            <a:r>
              <a:rPr sz="1725" b="0">
                <a:solidFill>
                  <a:srgbClr val="5B6F80"/>
                </a:solidFill>
                <a:latin typeface="Arial"/>
                <a:ea typeface="Arial"/>
                <a:cs typeface="Arial"/>
              </a:rPr>
              <a:t>to be confirmed after the pilot and first portfolio measurement.</a:t>
            </a:r>
          </a:p>
        </p:txBody>
      </p:sp>
    </p:spTree>
    <p:extLst>
      <p:ext uri="{BB962C8B-B14F-4D97-AF65-F5344CB8AC3E}">
        <p14:creationId xmlns:p14="http://schemas.microsoft.com/office/powerpoint/2010/main" val="14865433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0780B0-DAD4-4A3A-876F-A2DFF9A21637}"/>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226A5B"/>
                </a:solidFill>
                <a:latin typeface="Arial"/>
                <a:ea typeface="Arial"/>
                <a:cs typeface="Arial"/>
              </a:defRPr>
            </a:defPPr>
          </a:lstStyle>
          <a:p xmlns:a="http://schemas.openxmlformats.org/drawingml/2006/main">
            <a:pPr>
              <a:defRPr sz="1275" b="1">
                <a:solidFill>
                  <a:srgbClr val="226A5B"/>
                </a:solidFill>
                <a:latin typeface="Arial"/>
                <a:ea typeface="Arial"/>
                <a:cs typeface="Arial"/>
              </a:defRPr>
            </a:pPr>
            <a:r>
              <a:rPr sz="1275" b="1">
                <a:solidFill>
                  <a:srgbClr val="226A5B"/>
                </a:solidFill>
                <a:latin typeface="Arial"/>
                <a:ea typeface="Arial"/>
                <a:cs typeface="Arial"/>
              </a:rPr>
              <a:t>SECTION 6</a:t>
            </a:r>
          </a:p>
        </p:txBody>
      </p:sp>
      <p:sp>
        <p:nvSpPr>
          <p:cNvPr id="2" name="">
            <a:extLst xmlns:a="http://schemas.openxmlformats.org/drawingml/2006/main">
              <a:ext uri="{FF2B5EF4-FFF2-40B4-BE49-F238E27FC236}">
                <a16:creationId xmlns:a16="http://schemas.microsoft.com/office/drawing/2014/main" id="{53E6E675-5CD0-431F-B5EA-331BD22645DF}"/>
              </a:ext>
            </a:extLst>
          </p:cNvPr>
          <p:cNvSpPr>
            <a:spLocks xmlns:a="http://schemas.openxmlformats.org/drawingml/2006/main" noGrp="1"/>
          </p:cNvSpPr>
          <p:nvPr/>
        </p:nvSpPr>
        <p:spPr>
          <a:xfrm xmlns:a="http://schemas.openxmlformats.org/drawingml/2006/main">
            <a:off x="609600" y="828675"/>
            <a:ext cx="1095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203549"/>
                </a:solidFill>
                <a:latin typeface="Arial"/>
                <a:ea typeface="Arial"/>
                <a:cs typeface="Arial"/>
              </a:defRPr>
            </a:defPPr>
          </a:lstStyle>
          <a:p xmlns:a="http://schemas.openxmlformats.org/drawingml/2006/main">
            <a:pPr>
              <a:defRPr sz="3000" b="1">
                <a:solidFill>
                  <a:srgbClr val="203549"/>
                </a:solidFill>
                <a:latin typeface="Arial"/>
                <a:ea typeface="Arial"/>
                <a:cs typeface="Arial"/>
              </a:defRPr>
            </a:pPr>
            <a:r>
              <a:rPr sz="3000" b="1">
                <a:solidFill>
                  <a:srgbClr val="203549"/>
                </a:solidFill>
                <a:latin typeface="Arial"/>
                <a:ea typeface="Arial"/>
                <a:cs typeface="Arial"/>
              </a:rPr>
              <a:t>Additional dependency and architecture criteria</a:t>
            </a:r>
          </a:p>
        </p:txBody>
      </p:sp>
      <p:sp>
        <p:nvSpPr>
          <p:cNvPr id="3" name="">
            <a:extLst xmlns:a="http://schemas.openxmlformats.org/drawingml/2006/main">
              <a:ext uri="{FF2B5EF4-FFF2-40B4-BE49-F238E27FC236}">
                <a16:creationId xmlns:a16="http://schemas.microsoft.com/office/drawing/2014/main" id="{08028944-CAAA-47DC-B017-240A199611DF}"/>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B6F80"/>
                </a:solidFill>
                <a:latin typeface="Arial"/>
                <a:ea typeface="Arial"/>
                <a:cs typeface="Arial"/>
              </a:defRPr>
            </a:defPPr>
          </a:lstStyle>
          <a:p xmlns:a="http://schemas.openxmlformats.org/drawingml/2006/main">
            <a:pPr>
              <a:defRPr sz="1125" b="0">
                <a:solidFill>
                  <a:srgbClr val="5B6F80"/>
                </a:solidFill>
                <a:latin typeface="Arial"/>
                <a:ea typeface="Arial"/>
                <a:cs typeface="Arial"/>
              </a:defRPr>
            </a:pPr>
            <a:r>
              <a:rPr sz="1125" b="0">
                <a:solidFill>
                  <a:srgbClr val="5B6F80"/>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8EE21935-B001-4AA9-91ED-FA7526B13102}"/>
              </a:ext>
            </a:extLst>
          </p:cNvPr>
          <p:cNvGraphicFramePr/>
          <p:nvPr/>
        </p:nvGraphicFramePr>
        <p:xfrm>
          <a:off xmlns:a="http://schemas.openxmlformats.org/drawingml/2006/main" x="619125" y="1809750"/>
          <a:ext xmlns:a="http://schemas.openxmlformats.org/drawingml/2006/main" cx="10953750" cy="3667125"/>
        </p:xfrm>
        <a:graphic xmlns:a="http://schemas.openxmlformats.org/drawingml/2006/main">
          <a:graphicData uri="http://schemas.openxmlformats.org/drawingml/2006/table">
            <a:tbl>
              <a:tblPr/>
              <a:tblGrid>
                <a:gridCol w="2857500"/>
                <a:gridCol w="8096250"/>
              </a:tblGrid>
              <a:tr h="523875">
                <a:tc>
                  <a:txBody>
                    <a:bodyPr/>
                    <a:lstStyle/>
                    <a:p>
                      <a:r>
                        <a:rPr sz="1725" b="1">
                          <a:solidFill>
                            <a:srgbClr val="FFFFFF"/>
                          </a:solidFill>
                          <a:latin typeface="Arial"/>
                          <a:ea typeface="Arial"/>
                          <a:cs typeface="Arial"/>
                        </a:rPr>
                        <a:t>Area</a:t>
                      </a:r>
                    </a:p>
                  </a:txBody>
                  <a:tcPr marL="91440" marR="91440" marT="45720" marB="45720">
                    <a:solidFill>
                      <a:srgbClr val="226A5B"/>
                    </a:solidFill>
                  </a:tcPr>
                </a:tc>
                <a:tc>
                  <a:txBody>
                    <a:bodyPr/>
                    <a:lstStyle/>
                    <a:p>
                      <a:r>
                        <a:rPr sz="1725" b="1">
                          <a:solidFill>
                            <a:srgbClr val="FFFFFF"/>
                          </a:solidFill>
                          <a:latin typeface="Arial"/>
                          <a:ea typeface="Arial"/>
                          <a:cs typeface="Arial"/>
                        </a:rPr>
                        <a:t>Additional measurements</a:t>
                      </a:r>
                    </a:p>
                  </a:txBody>
                  <a:tcPr marL="91440" marR="91440" marT="45720" marB="45720">
                    <a:solidFill>
                      <a:srgbClr val="226A5B"/>
                    </a:solidFill>
                  </a:tcPr>
                </a:tc>
              </a:tr>
              <a:tr h="523875">
                <a:tc>
                  <a:txBody>
                    <a:bodyPr/>
                    <a:lstStyle/>
                    <a:p>
                      <a:r>
                        <a:rPr sz="1725" b="0">
                          <a:solidFill>
                            <a:srgbClr val="203549"/>
                          </a:solidFill>
                          <a:latin typeface="Arial"/>
                          <a:ea typeface="Arial"/>
                          <a:cs typeface="Arial"/>
                        </a:rPr>
                        <a:t>Dependency graph</a:t>
                      </a:r>
                    </a:p>
                  </a:txBody>
                  <a:tcPr marL="91440" marR="91440" marT="45720" marB="45720">
                    <a:solidFill>
                      <a:srgbClr val="F1F5F7"/>
                    </a:solidFill>
                  </a:tcPr>
                </a:tc>
                <a:tc>
                  <a:txBody>
                    <a:bodyPr/>
                    <a:lstStyle/>
                    <a:p>
                      <a:r>
                        <a:rPr sz="1725" b="0">
                          <a:solidFill>
                            <a:srgbClr val="203549"/>
                          </a:solidFill>
                          <a:latin typeface="Arial"/>
                          <a:ea typeface="Arial"/>
                          <a:cs typeface="Arial"/>
                        </a:rPr>
                        <a:t>Direct/transitive dependencies and conflicts</a:t>
                      </a:r>
                    </a:p>
                  </a:txBody>
                  <a:tcPr marL="91440" marR="91440" marT="45720" marB="45720">
                    <a:solidFill>
                      <a:srgbClr val="F1F5F7"/>
                    </a:solidFill>
                  </a:tcPr>
                </a:tc>
              </a:tr>
              <a:tr h="523875">
                <a:tc>
                  <a:txBody>
                    <a:bodyPr/>
                    <a:lstStyle/>
                    <a:p>
                      <a:r>
                        <a:rPr sz="1725" b="0">
                          <a:solidFill>
                            <a:srgbClr val="203549"/>
                          </a:solidFill>
                          <a:latin typeface="Arial"/>
                          <a:ea typeface="Arial"/>
                          <a:cs typeface="Arial"/>
                        </a:rPr>
                        <a:t>Version drift</a:t>
                      </a:r>
                    </a:p>
                  </a:txBody>
                  <a:tcPr marL="91440" marR="91440" marT="45720" marB="45720">
                    <a:solidFill>
                      <a:srgbClr val="FFFFFF"/>
                    </a:solidFill>
                  </a:tcPr>
                </a:tc>
                <a:tc>
                  <a:txBody>
                    <a:bodyPr/>
                    <a:lstStyle/>
                    <a:p>
                      <a:r>
                        <a:rPr sz="1725" b="0">
                          <a:solidFill>
                            <a:srgbClr val="203549"/>
                          </a:solidFill>
                          <a:latin typeface="Arial"/>
                          <a:ea typeface="Arial"/>
                          <a:cs typeface="Arial"/>
                        </a:rPr>
                        <a:t>Major releases behind and deprecated APIs</a:t>
                      </a:r>
                    </a:p>
                  </a:txBody>
                  <a:tcPr marL="91440" marR="91440" marT="45720" marB="45720">
                    <a:solidFill>
                      <a:srgbClr val="FFFFFF"/>
                    </a:solidFill>
                  </a:tcPr>
                </a:tc>
              </a:tr>
              <a:tr h="523875">
                <a:tc>
                  <a:txBody>
                    <a:bodyPr/>
                    <a:lstStyle/>
                    <a:p>
                      <a:r>
                        <a:rPr sz="1725" b="0">
                          <a:solidFill>
                            <a:srgbClr val="203549"/>
                          </a:solidFill>
                          <a:latin typeface="Arial"/>
                          <a:ea typeface="Arial"/>
                          <a:cs typeface="Arial"/>
                        </a:rPr>
                        <a:t>Configuration</a:t>
                      </a:r>
                    </a:p>
                  </a:txBody>
                  <a:tcPr marL="91440" marR="91440" marT="45720" marB="45720">
                    <a:solidFill>
                      <a:srgbClr val="F1F5F7"/>
                    </a:solidFill>
                  </a:tcPr>
                </a:tc>
                <a:tc>
                  <a:txBody>
                    <a:bodyPr/>
                    <a:lstStyle/>
                    <a:p>
                      <a:r>
                        <a:rPr sz="1725" b="0">
                          <a:solidFill>
                            <a:srgbClr val="203549"/>
                          </a:solidFill>
                          <a:latin typeface="Arial"/>
                          <a:ea typeface="Arial"/>
                          <a:cs typeface="Arial"/>
                        </a:rPr>
                        <a:t>Number and interaction of runtime profiles</a:t>
                      </a:r>
                    </a:p>
                  </a:txBody>
                  <a:tcPr marL="91440" marR="91440" marT="45720" marB="45720">
                    <a:solidFill>
                      <a:srgbClr val="F1F5F7"/>
                    </a:solidFill>
                  </a:tcPr>
                </a:tc>
              </a:tr>
              <a:tr h="523875">
                <a:tc>
                  <a:txBody>
                    <a:bodyPr/>
                    <a:lstStyle/>
                    <a:p>
                      <a:r>
                        <a:rPr sz="1725" b="0">
                          <a:solidFill>
                            <a:srgbClr val="203549"/>
                          </a:solidFill>
                          <a:latin typeface="Arial"/>
                          <a:ea typeface="Arial"/>
                          <a:cs typeface="Arial"/>
                        </a:rPr>
                        <a:t>Integration</a:t>
                      </a:r>
                    </a:p>
                  </a:txBody>
                  <a:tcPr marL="91440" marR="91440" marT="45720" marB="45720">
                    <a:solidFill>
                      <a:srgbClr val="FFFFFF"/>
                    </a:solidFill>
                  </a:tcPr>
                </a:tc>
                <a:tc>
                  <a:txBody>
                    <a:bodyPr/>
                    <a:lstStyle/>
                    <a:p>
                      <a:r>
                        <a:rPr sz="1725" b="0">
                          <a:solidFill>
                            <a:srgbClr val="203549"/>
                          </a:solidFill>
                          <a:latin typeface="Arial"/>
                          <a:ea typeface="Arial"/>
                          <a:cs typeface="Arial"/>
                        </a:rPr>
                        <a:t>Asynchronous flows and messaging technologies</a:t>
                      </a:r>
                    </a:p>
                  </a:txBody>
                  <a:tcPr marL="91440" marR="91440" marT="45720" marB="45720">
                    <a:solidFill>
                      <a:srgbClr val="FFFFFF"/>
                    </a:solidFill>
                  </a:tcPr>
                </a:tc>
              </a:tr>
              <a:tr h="523875">
                <a:tc>
                  <a:txBody>
                    <a:bodyPr/>
                    <a:lstStyle/>
                    <a:p>
                      <a:r>
                        <a:rPr sz="1725" b="0">
                          <a:solidFill>
                            <a:srgbClr val="203549"/>
                          </a:solidFill>
                          <a:latin typeface="Arial"/>
                          <a:ea typeface="Arial"/>
                          <a:cs typeface="Arial"/>
                        </a:rPr>
                        <a:t>Data changes</a:t>
                      </a:r>
                    </a:p>
                  </a:txBody>
                  <a:tcPr marL="91440" marR="91440" marT="45720" marB="45720">
                    <a:solidFill>
                      <a:srgbClr val="F1F5F7"/>
                    </a:solidFill>
                  </a:tcPr>
                </a:tc>
                <a:tc>
                  <a:txBody>
                    <a:bodyPr/>
                    <a:lstStyle/>
                    <a:p>
                      <a:r>
                        <a:rPr sz="1725" b="0">
                          <a:solidFill>
                            <a:srgbClr val="203549"/>
                          </a:solidFill>
                          <a:latin typeface="Arial"/>
                          <a:ea typeface="Arial"/>
                          <a:cs typeface="Arial"/>
                        </a:rPr>
                        <a:t>Database migration volume and complexity</a:t>
                      </a:r>
                    </a:p>
                  </a:txBody>
                  <a:tcPr marL="91440" marR="91440" marT="45720" marB="45720">
                    <a:solidFill>
                      <a:srgbClr val="F1F5F7"/>
                    </a:solidFill>
                  </a:tcPr>
                </a:tc>
              </a:tr>
              <a:tr h="523875">
                <a:tc>
                  <a:txBody>
                    <a:bodyPr/>
                    <a:lstStyle/>
                    <a:p>
                      <a:r>
                        <a:rPr sz="1725" b="0">
                          <a:solidFill>
                            <a:srgbClr val="203549"/>
                          </a:solidFill>
                          <a:latin typeface="Arial"/>
                          <a:ea typeface="Arial"/>
                          <a:cs typeface="Arial"/>
                        </a:rPr>
                        <a:t>Code structure</a:t>
                      </a:r>
                    </a:p>
                  </a:txBody>
                  <a:tcPr marL="91440" marR="91440" marT="45720" marB="45720">
                    <a:solidFill>
                      <a:srgbClr val="FFFFFF"/>
                    </a:solidFill>
                  </a:tcPr>
                </a:tc>
                <a:tc>
                  <a:txBody>
                    <a:bodyPr/>
                    <a:lstStyle/>
                    <a:p>
                      <a:r>
                        <a:rPr sz="1725" b="0">
                          <a:solidFill>
                            <a:srgbClr val="203549"/>
                          </a:solidFill>
                          <a:latin typeface="Arial"/>
                          <a:ea typeface="Arial"/>
                          <a:cs typeface="Arial"/>
                        </a:rPr>
                        <a:t>Duplication and cyclic package dependencies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610287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20D8882-E5B5-4D95-95A9-AC2D83E36883}"/>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226A5B"/>
                </a:solidFill>
                <a:latin typeface="Arial"/>
                <a:ea typeface="Arial"/>
                <a:cs typeface="Arial"/>
              </a:defRPr>
            </a:defPPr>
          </a:lstStyle>
          <a:p xmlns:a="http://schemas.openxmlformats.org/drawingml/2006/main">
            <a:pPr>
              <a:defRPr sz="1275" b="1">
                <a:solidFill>
                  <a:srgbClr val="226A5B"/>
                </a:solidFill>
                <a:latin typeface="Arial"/>
                <a:ea typeface="Arial"/>
                <a:cs typeface="Arial"/>
              </a:defRPr>
            </a:pPr>
            <a:r>
              <a:rPr sz="1275" b="1">
                <a:solidFill>
                  <a:srgbClr val="226A5B"/>
                </a:solidFill>
                <a:latin typeface="Arial"/>
                <a:ea typeface="Arial"/>
                <a:cs typeface="Arial"/>
              </a:rPr>
              <a:t>SECTION 6</a:t>
            </a:r>
          </a:p>
        </p:txBody>
      </p:sp>
      <p:sp>
        <p:nvSpPr>
          <p:cNvPr id="2" name="">
            <a:extLst xmlns:a="http://schemas.openxmlformats.org/drawingml/2006/main">
              <a:ext uri="{FF2B5EF4-FFF2-40B4-BE49-F238E27FC236}">
                <a16:creationId xmlns:a16="http://schemas.microsoft.com/office/drawing/2014/main" id="{A97678EF-4DF7-46A2-A86C-43C13CEC3248}"/>
              </a:ext>
            </a:extLst>
          </p:cNvPr>
          <p:cNvSpPr>
            <a:spLocks xmlns:a="http://schemas.openxmlformats.org/drawingml/2006/main" noGrp="1"/>
          </p:cNvSpPr>
          <p:nvPr/>
        </p:nvSpPr>
        <p:spPr>
          <a:xfrm xmlns:a="http://schemas.openxmlformats.org/drawingml/2006/main">
            <a:off x="609600" y="828675"/>
            <a:ext cx="1095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203549"/>
                </a:solidFill>
                <a:latin typeface="Arial"/>
                <a:ea typeface="Arial"/>
                <a:cs typeface="Arial"/>
              </a:defRPr>
            </a:defPPr>
          </a:lstStyle>
          <a:p xmlns:a="http://schemas.openxmlformats.org/drawingml/2006/main">
            <a:pPr>
              <a:defRPr sz="3000" b="1">
                <a:solidFill>
                  <a:srgbClr val="203549"/>
                </a:solidFill>
                <a:latin typeface="Arial"/>
                <a:ea typeface="Arial"/>
                <a:cs typeface="Arial"/>
              </a:defRPr>
            </a:pPr>
            <a:r>
              <a:rPr sz="3000" b="1">
                <a:solidFill>
                  <a:srgbClr val="203549"/>
                </a:solidFill>
                <a:latin typeface="Arial"/>
                <a:ea typeface="Arial"/>
                <a:cs typeface="Arial"/>
              </a:rPr>
              <a:t>Additional delivery and operating criteria</a:t>
            </a:r>
          </a:p>
        </p:txBody>
      </p:sp>
      <p:sp>
        <p:nvSpPr>
          <p:cNvPr id="3" name="">
            <a:extLst xmlns:a="http://schemas.openxmlformats.org/drawingml/2006/main">
              <a:ext uri="{FF2B5EF4-FFF2-40B4-BE49-F238E27FC236}">
                <a16:creationId xmlns:a16="http://schemas.microsoft.com/office/drawing/2014/main" id="{E6433141-0A37-4E54-A16F-02BB65ACCD42}"/>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B6F80"/>
                </a:solidFill>
                <a:latin typeface="Arial"/>
                <a:ea typeface="Arial"/>
                <a:cs typeface="Arial"/>
              </a:defRPr>
            </a:defPPr>
          </a:lstStyle>
          <a:p xmlns:a="http://schemas.openxmlformats.org/drawingml/2006/main">
            <a:pPr>
              <a:defRPr sz="1125" b="0">
                <a:solidFill>
                  <a:srgbClr val="5B6F80"/>
                </a:solidFill>
                <a:latin typeface="Arial"/>
                <a:ea typeface="Arial"/>
                <a:cs typeface="Arial"/>
              </a:defRPr>
            </a:pPr>
            <a:r>
              <a:rPr sz="1125" b="0">
                <a:solidFill>
                  <a:srgbClr val="5B6F80"/>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70D2F0A5-76DD-4F69-A1BB-8F006EF1AC85}"/>
              </a:ext>
            </a:extLst>
          </p:cNvPr>
          <p:cNvGraphicFramePr/>
          <p:nvPr/>
        </p:nvGraphicFramePr>
        <p:xfrm>
          <a:off xmlns:a="http://schemas.openxmlformats.org/drawingml/2006/main" x="619125" y="1809750"/>
          <a:ext xmlns:a="http://schemas.openxmlformats.org/drawingml/2006/main" cx="10953750" cy="3667125"/>
        </p:xfrm>
        <a:graphic xmlns:a="http://schemas.openxmlformats.org/drawingml/2006/main">
          <a:graphicData uri="http://schemas.openxmlformats.org/drawingml/2006/table">
            <a:tbl>
              <a:tblPr/>
              <a:tblGrid>
                <a:gridCol w="2857500"/>
                <a:gridCol w="8096250"/>
              </a:tblGrid>
              <a:tr h="523875">
                <a:tc>
                  <a:txBody>
                    <a:bodyPr/>
                    <a:lstStyle/>
                    <a:p>
                      <a:r>
                        <a:rPr sz="1725" b="1">
                          <a:solidFill>
                            <a:srgbClr val="FFFFFF"/>
                          </a:solidFill>
                          <a:latin typeface="Arial"/>
                          <a:ea typeface="Arial"/>
                          <a:cs typeface="Arial"/>
                        </a:rPr>
                        <a:t>Area</a:t>
                      </a:r>
                    </a:p>
                  </a:txBody>
                  <a:tcPr marL="91440" marR="91440" marT="45720" marB="45720">
                    <a:solidFill>
                      <a:srgbClr val="226A5B"/>
                    </a:solidFill>
                  </a:tcPr>
                </a:tc>
                <a:tc>
                  <a:txBody>
                    <a:bodyPr/>
                    <a:lstStyle/>
                    <a:p>
                      <a:r>
                        <a:rPr sz="1725" b="1">
                          <a:solidFill>
                            <a:srgbClr val="FFFFFF"/>
                          </a:solidFill>
                          <a:latin typeface="Arial"/>
                          <a:ea typeface="Arial"/>
                          <a:cs typeface="Arial"/>
                        </a:rPr>
                        <a:t>Additional measurements</a:t>
                      </a:r>
                    </a:p>
                  </a:txBody>
                  <a:tcPr marL="91440" marR="91440" marT="45720" marB="45720">
                    <a:solidFill>
                      <a:srgbClr val="226A5B"/>
                    </a:solidFill>
                  </a:tcPr>
                </a:tc>
              </a:tr>
              <a:tr h="523875">
                <a:tc>
                  <a:txBody>
                    <a:bodyPr/>
                    <a:lstStyle/>
                    <a:p>
                      <a:r>
                        <a:rPr sz="1725" b="0">
                          <a:solidFill>
                            <a:srgbClr val="203549"/>
                          </a:solidFill>
                          <a:latin typeface="Arial"/>
                          <a:ea typeface="Arial"/>
                          <a:cs typeface="Arial"/>
                        </a:rPr>
                        <a:t>Test reliability</a:t>
                      </a:r>
                    </a:p>
                  </a:txBody>
                  <a:tcPr marL="91440" marR="91440" marT="45720" marB="45720">
                    <a:solidFill>
                      <a:srgbClr val="F1F5F7"/>
                    </a:solidFill>
                  </a:tcPr>
                </a:tc>
                <a:tc>
                  <a:txBody>
                    <a:bodyPr/>
                    <a:lstStyle/>
                    <a:p>
                      <a:r>
                        <a:rPr sz="1725" b="0">
                          <a:solidFill>
                            <a:srgbClr val="203549"/>
                          </a:solidFill>
                          <a:latin typeface="Arial"/>
                          <a:ea typeface="Arial"/>
                          <a:cs typeface="Arial"/>
                        </a:rPr>
                        <a:t>Flaky tests</a:t>
                      </a:r>
                    </a:p>
                  </a:txBody>
                  <a:tcPr marL="91440" marR="91440" marT="45720" marB="45720">
                    <a:solidFill>
                      <a:srgbClr val="F1F5F7"/>
                    </a:solidFill>
                  </a:tcPr>
                </a:tc>
              </a:tr>
              <a:tr h="523875">
                <a:tc>
                  <a:txBody>
                    <a:bodyPr/>
                    <a:lstStyle/>
                    <a:p>
                      <a:r>
                        <a:rPr sz="1725" b="0">
                          <a:solidFill>
                            <a:srgbClr val="203549"/>
                          </a:solidFill>
                          <a:latin typeface="Arial"/>
                          <a:ea typeface="Arial"/>
                          <a:cs typeface="Arial"/>
                        </a:rPr>
                        <a:t>Delivery speed</a:t>
                      </a:r>
                    </a:p>
                  </a:txBody>
                  <a:tcPr marL="91440" marR="91440" marT="45720" marB="45720">
                    <a:solidFill>
                      <a:srgbClr val="FFFFFF"/>
                    </a:solidFill>
                  </a:tcPr>
                </a:tc>
                <a:tc>
                  <a:txBody>
                    <a:bodyPr/>
                    <a:lstStyle/>
                    <a:p>
                      <a:r>
                        <a:rPr sz="1725" b="0">
                          <a:solidFill>
                            <a:srgbClr val="203549"/>
                          </a:solidFill>
                          <a:latin typeface="Arial"/>
                          <a:ea typeface="Arial"/>
                          <a:cs typeface="Arial"/>
                        </a:rPr>
                        <a:t>Build duration</a:t>
                      </a:r>
                    </a:p>
                  </a:txBody>
                  <a:tcPr marL="91440" marR="91440" marT="45720" marB="45720">
                    <a:solidFill>
                      <a:srgbClr val="FFFFFF"/>
                    </a:solidFill>
                  </a:tcPr>
                </a:tc>
              </a:tr>
              <a:tr h="523875">
                <a:tc>
                  <a:txBody>
                    <a:bodyPr/>
                    <a:lstStyle/>
                    <a:p>
                      <a:r>
                        <a:rPr sz="1725" b="0">
                          <a:solidFill>
                            <a:srgbClr val="203549"/>
                          </a:solidFill>
                          <a:latin typeface="Arial"/>
                          <a:ea typeface="Arial"/>
                          <a:cs typeface="Arial"/>
                        </a:rPr>
                        <a:t>Change stability</a:t>
                      </a:r>
                    </a:p>
                  </a:txBody>
                  <a:tcPr marL="91440" marR="91440" marT="45720" marB="45720">
                    <a:solidFill>
                      <a:srgbClr val="F1F5F7"/>
                    </a:solidFill>
                  </a:tcPr>
                </a:tc>
                <a:tc>
                  <a:txBody>
                    <a:bodyPr/>
                    <a:lstStyle/>
                    <a:p>
                      <a:r>
                        <a:rPr sz="1725" b="0">
                          <a:solidFill>
                            <a:srgbClr val="203549"/>
                          </a:solidFill>
                          <a:latin typeface="Arial"/>
                          <a:ea typeface="Arial"/>
                          <a:cs typeface="Arial"/>
                        </a:rPr>
                        <a:t>Historical change-failure rate</a:t>
                      </a:r>
                    </a:p>
                  </a:txBody>
                  <a:tcPr marL="91440" marR="91440" marT="45720" marB="45720">
                    <a:solidFill>
                      <a:srgbClr val="F1F5F7"/>
                    </a:solidFill>
                  </a:tcPr>
                </a:tc>
              </a:tr>
              <a:tr h="523875">
                <a:tc>
                  <a:txBody>
                    <a:bodyPr/>
                    <a:lstStyle/>
                    <a:p>
                      <a:r>
                        <a:rPr sz="1725" b="0">
                          <a:solidFill>
                            <a:srgbClr val="203549"/>
                          </a:solidFill>
                          <a:latin typeface="Arial"/>
                          <a:ea typeface="Arial"/>
                          <a:cs typeface="Arial"/>
                        </a:rPr>
                        <a:t>Business impact</a:t>
                      </a:r>
                    </a:p>
                  </a:txBody>
                  <a:tcPr marL="91440" marR="91440" marT="45720" marB="45720">
                    <a:solidFill>
                      <a:srgbClr val="FFFFFF"/>
                    </a:solidFill>
                  </a:tcPr>
                </a:tc>
                <a:tc>
                  <a:txBody>
                    <a:bodyPr/>
                    <a:lstStyle/>
                    <a:p>
                      <a:r>
                        <a:rPr sz="1725" b="0">
                          <a:solidFill>
                            <a:srgbClr val="203549"/>
                          </a:solidFill>
                          <a:latin typeface="Arial"/>
                          <a:ea typeface="Arial"/>
                          <a:cs typeface="Arial"/>
                        </a:rPr>
                        <a:t>Critical business processes</a:t>
                      </a:r>
                    </a:p>
                  </a:txBody>
                  <a:tcPr marL="91440" marR="91440" marT="45720" marB="45720">
                    <a:solidFill>
                      <a:srgbClr val="FFFFFF"/>
                    </a:solidFill>
                  </a:tcPr>
                </a:tc>
              </a:tr>
              <a:tr h="523875">
                <a:tc>
                  <a:txBody>
                    <a:bodyPr/>
                    <a:lstStyle/>
                    <a:p>
                      <a:r>
                        <a:rPr sz="1725" b="0">
                          <a:solidFill>
                            <a:srgbClr val="203549"/>
                          </a:solidFill>
                          <a:latin typeface="Arial"/>
                          <a:ea typeface="Arial"/>
                          <a:cs typeface="Arial"/>
                        </a:rPr>
                        <a:t>Production diagnosis</a:t>
                      </a:r>
                    </a:p>
                  </a:txBody>
                  <a:tcPr marL="91440" marR="91440" marT="45720" marB="45720">
                    <a:solidFill>
                      <a:srgbClr val="F1F5F7"/>
                    </a:solidFill>
                  </a:tcPr>
                </a:tc>
                <a:tc>
                  <a:txBody>
                    <a:bodyPr/>
                    <a:lstStyle/>
                    <a:p>
                      <a:r>
                        <a:rPr sz="1725" b="0">
                          <a:solidFill>
                            <a:srgbClr val="203549"/>
                          </a:solidFill>
                          <a:latin typeface="Arial"/>
                          <a:ea typeface="Arial"/>
                          <a:cs typeface="Arial"/>
                        </a:rPr>
                        <a:t>Observability quality</a:t>
                      </a:r>
                    </a:p>
                  </a:txBody>
                  <a:tcPr marL="91440" marR="91440" marT="45720" marB="45720">
                    <a:solidFill>
                      <a:srgbClr val="F1F5F7"/>
                    </a:solidFill>
                  </a:tcPr>
                </a:tc>
              </a:tr>
              <a:tr h="523875">
                <a:tc>
                  <a:txBody>
                    <a:bodyPr/>
                    <a:lstStyle/>
                    <a:p>
                      <a:r>
                        <a:rPr sz="1725" b="0">
                          <a:solidFill>
                            <a:srgbClr val="203549"/>
                          </a:solidFill>
                          <a:latin typeface="Arial"/>
                          <a:ea typeface="Arial"/>
                          <a:cs typeface="Arial"/>
                        </a:rPr>
                        <a:t>Runtime footprint</a:t>
                      </a:r>
                    </a:p>
                  </a:txBody>
                  <a:tcPr marL="91440" marR="91440" marT="45720" marB="45720">
                    <a:solidFill>
                      <a:srgbClr val="FFFFFF"/>
                    </a:solidFill>
                  </a:tcPr>
                </a:tc>
                <a:tc>
                  <a:txBody>
                    <a:bodyPr/>
                    <a:lstStyle/>
                    <a:p>
                      <a:r>
                        <a:rPr sz="1725" b="0">
                          <a:solidFill>
                            <a:srgbClr val="203549"/>
                          </a:solidFill>
                          <a:latin typeface="Arial"/>
                          <a:ea typeface="Arial"/>
                          <a:cs typeface="Arial"/>
                        </a:rPr>
                        <a:t>Runtime and infrastructure components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B74E48D-8D62-467E-A5B3-EF36772EB86F}"/>
              </a:ext>
            </a:extLst>
          </p:cNvPr>
          <p:cNvSpPr>
            <a:spLocks xmlns:a="http://schemas.openxmlformats.org/drawingml/2006/main" noGrp="1"/>
          </p:cNvSpPr>
          <p:nvPr/>
        </p:nvSpPr>
        <p:spPr>
          <a:xfrm xmlns:a="http://schemas.openxmlformats.org/drawingml/2006/main">
            <a:off x="666750" y="577215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B6F80"/>
                </a:solidFill>
                <a:latin typeface="Arial"/>
                <a:ea typeface="Arial"/>
                <a:cs typeface="Arial"/>
              </a:defRPr>
            </a:defPPr>
          </a:lstStyle>
          <a:p xmlns:a="http://schemas.openxmlformats.org/drawingml/2006/main">
            <a:pPr>
              <a:defRPr sz="1725" b="0">
                <a:solidFill>
                  <a:srgbClr val="5B6F80"/>
                </a:solidFill>
                <a:latin typeface="Arial"/>
                <a:ea typeface="Arial"/>
                <a:cs typeface="Arial"/>
              </a:defRPr>
            </a:pPr>
            <a:r>
              <a:rPr sz="1725" b="0">
                <a:solidFill>
                  <a:srgbClr val="5B6F80"/>
                </a:solidFill>
                <a:latin typeface="Arial"/>
                <a:ea typeface="Arial"/>
                <a:cs typeface="Arial"/>
              </a:rPr>
              <a:t>Business criticality adds prioritization context beyond code structure.</a:t>
            </a:r>
          </a:p>
        </p:txBody>
      </p:sp>
    </p:spTree>
    <p:extLst>
      <p:ext uri="{BB962C8B-B14F-4D97-AF65-F5344CB8AC3E}">
        <p14:creationId xmlns:p14="http://schemas.microsoft.com/office/powerpoint/2010/main" val="172512537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615763-0A00-440A-B2F3-1D9675A5C2DA}"/>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226A5B"/>
                </a:solidFill>
                <a:latin typeface="Arial"/>
                <a:ea typeface="Arial"/>
                <a:cs typeface="Arial"/>
              </a:defRPr>
            </a:defPPr>
          </a:lstStyle>
          <a:p xmlns:a="http://schemas.openxmlformats.org/drawingml/2006/main">
            <a:pPr>
              <a:defRPr sz="1275" b="1">
                <a:solidFill>
                  <a:srgbClr val="226A5B"/>
                </a:solidFill>
                <a:latin typeface="Arial"/>
                <a:ea typeface="Arial"/>
                <a:cs typeface="Arial"/>
              </a:defRPr>
            </a:pPr>
            <a:r>
              <a:rPr sz="1275" b="1">
                <a:solidFill>
                  <a:srgbClr val="226A5B"/>
                </a:solidFill>
                <a:latin typeface="Arial"/>
                <a:ea typeface="Arial"/>
                <a:cs typeface="Arial"/>
              </a:rPr>
              <a:t>SECTION 8</a:t>
            </a:r>
          </a:p>
        </p:txBody>
      </p:sp>
      <p:sp>
        <p:nvSpPr>
          <p:cNvPr id="2" name="">
            <a:extLst xmlns:a="http://schemas.openxmlformats.org/drawingml/2006/main">
              <a:ext uri="{FF2B5EF4-FFF2-40B4-BE49-F238E27FC236}">
                <a16:creationId xmlns:a16="http://schemas.microsoft.com/office/drawing/2014/main" id="{03AB3DA2-F10D-4443-91E4-6E8D6AA9F372}"/>
              </a:ext>
            </a:extLst>
          </p:cNvPr>
          <p:cNvSpPr>
            <a:spLocks xmlns:a="http://schemas.openxmlformats.org/drawingml/2006/main" noGrp="1"/>
          </p:cNvSpPr>
          <p:nvPr/>
        </p:nvSpPr>
        <p:spPr>
          <a:xfrm xmlns:a="http://schemas.openxmlformats.org/drawingml/2006/main">
            <a:off x="609600" y="828675"/>
            <a:ext cx="1095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203549"/>
                </a:solidFill>
                <a:latin typeface="Arial"/>
                <a:ea typeface="Arial"/>
                <a:cs typeface="Arial"/>
              </a:defRPr>
            </a:defPPr>
          </a:lstStyle>
          <a:p xmlns:a="http://schemas.openxmlformats.org/drawingml/2006/main">
            <a:pPr>
              <a:defRPr sz="3000" b="1">
                <a:solidFill>
                  <a:srgbClr val="203549"/>
                </a:solidFill>
                <a:latin typeface="Arial"/>
                <a:ea typeface="Arial"/>
                <a:cs typeface="Arial"/>
              </a:defRPr>
            </a:pPr>
            <a:r>
              <a:rPr sz="3000" b="1">
                <a:solidFill>
                  <a:srgbClr val="203549"/>
                </a:solidFill>
                <a:latin typeface="Arial"/>
                <a:ea typeface="Arial"/>
                <a:cs typeface="Arial"/>
              </a:rPr>
              <a:t>Continuous scoring avoids abrupt category jumps</a:t>
            </a:r>
          </a:p>
        </p:txBody>
      </p:sp>
      <p:sp>
        <p:nvSpPr>
          <p:cNvPr id="3" name="">
            <a:extLst xmlns:a="http://schemas.openxmlformats.org/drawingml/2006/main">
              <a:ext uri="{FF2B5EF4-FFF2-40B4-BE49-F238E27FC236}">
                <a16:creationId xmlns:a16="http://schemas.microsoft.com/office/drawing/2014/main" id="{E8B365FF-2860-43F9-8ABE-38369C1BA9B8}"/>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B6F80"/>
                </a:solidFill>
                <a:latin typeface="Arial"/>
                <a:ea typeface="Arial"/>
                <a:cs typeface="Arial"/>
              </a:defRPr>
            </a:defPPr>
          </a:lstStyle>
          <a:p xmlns:a="http://schemas.openxmlformats.org/drawingml/2006/main">
            <a:pPr>
              <a:defRPr sz="1125" b="0">
                <a:solidFill>
                  <a:srgbClr val="5B6F80"/>
                </a:solidFill>
                <a:latin typeface="Arial"/>
                <a:ea typeface="Arial"/>
                <a:cs typeface="Arial"/>
              </a:defRPr>
            </a:pPr>
            <a:r>
              <a:rPr sz="1125" b="0">
                <a:solidFill>
                  <a:srgbClr val="5B6F80"/>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3F0613F7-A260-4114-8B99-7011E142C902}"/>
              </a:ext>
            </a:extLst>
          </p:cNvPr>
          <p:cNvSpPr>
            <a:spLocks xmlns:a="http://schemas.openxmlformats.org/drawingml/2006/main" noGrp="1"/>
          </p:cNvSpPr>
          <p:nvPr/>
        </p:nvSpPr>
        <p:spPr>
          <a:xfrm xmlns:a="http://schemas.openxmlformats.org/drawingml/2006/main">
            <a:off x="666750" y="185737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1">
                <a:solidFill>
                  <a:srgbClr val="226A5B"/>
                </a:solidFill>
                <a:latin typeface="Arial"/>
                <a:ea typeface="Arial"/>
                <a:cs typeface="Arial"/>
              </a:defRPr>
            </a:defPPr>
          </a:lstStyle>
          <a:p xmlns:a="http://schemas.openxmlformats.org/drawingml/2006/main">
            <a:pPr>
              <a:defRPr sz="2475" b="1">
                <a:solidFill>
                  <a:srgbClr val="226A5B"/>
                </a:solidFill>
                <a:latin typeface="Arial"/>
                <a:ea typeface="Arial"/>
                <a:cs typeface="Arial"/>
              </a:defRPr>
            </a:pPr>
            <a:r>
              <a:rPr sz="2475" b="1">
                <a:solidFill>
                  <a:srgbClr val="226A5B"/>
                </a:solidFill>
                <a:latin typeface="Arial"/>
                <a:ea typeface="Arial"/>
                <a:cs typeface="Arial"/>
              </a:rPr>
              <a:t>s_dep = min(1, max(0, (D − 30) / (120 − 30)))</a:t>
            </a:r>
          </a:p>
        </p:txBody>
      </p:sp>
      <p:sp>
        <p:nvSpPr>
          <p:cNvPr id="5" name="">
            <a:extLst xmlns:a="http://schemas.openxmlformats.org/drawingml/2006/main">
              <a:ext uri="{FF2B5EF4-FFF2-40B4-BE49-F238E27FC236}">
                <a16:creationId xmlns:a16="http://schemas.microsoft.com/office/drawing/2014/main" id="{3B2B5603-E885-4AAA-9ECD-66B8BA178AF4}"/>
              </a:ext>
            </a:extLst>
          </p:cNvPr>
          <p:cNvSpPr>
            <a:spLocks xmlns:a="http://schemas.openxmlformats.org/drawingml/2006/main" noGrp="1"/>
          </p:cNvSpPr>
          <p:nvPr/>
        </p:nvSpPr>
        <p:spPr>
          <a:xfrm xmlns:a="http://schemas.openxmlformats.org/drawingml/2006/main">
            <a:off x="666750" y="2667000"/>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1">
                <a:solidFill>
                  <a:srgbClr val="226A5B"/>
                </a:solidFill>
                <a:latin typeface="Arial"/>
                <a:ea typeface="Arial"/>
                <a:cs typeface="Arial"/>
              </a:defRPr>
            </a:defPPr>
          </a:lstStyle>
          <a:p xmlns:a="http://schemas.openxmlformats.org/drawingml/2006/main">
            <a:pPr>
              <a:defRPr sz="2475" b="1">
                <a:solidFill>
                  <a:srgbClr val="226A5B"/>
                </a:solidFill>
                <a:latin typeface="Arial"/>
                <a:ea typeface="Arial"/>
                <a:cs typeface="Arial"/>
              </a:defRPr>
            </a:pPr>
            <a:r>
              <a:rPr sz="2475" b="1">
                <a:solidFill>
                  <a:srgbClr val="226A5B"/>
                </a:solidFill>
                <a:latin typeface="Arial"/>
                <a:ea typeface="Arial"/>
                <a:cs typeface="Arial"/>
              </a:rPr>
              <a:t>s_coverage = min(1, max(0, (80 − C) / (80 − 30)))</a:t>
            </a:r>
          </a:p>
        </p:txBody>
      </p:sp>
      <p:graphicFrame>
        <p:nvGraphicFramePr>
          <p:cNvPr id="6" name="">
            <a:extLst xmlns:a="http://schemas.openxmlformats.org/drawingml/2006/main">
              <a:ext uri="{FF2B5EF4-FFF2-40B4-BE49-F238E27FC236}">
                <a16:creationId xmlns:a16="http://schemas.microsoft.com/office/drawing/2014/main" id="{E89472E8-9678-479F-B4FC-157DC7C72C23}"/>
              </a:ext>
            </a:extLst>
          </p:cNvPr>
          <p:cNvGraphicFramePr/>
          <p:nvPr/>
        </p:nvGraphicFramePr>
        <p:xfrm>
          <a:off xmlns:a="http://schemas.openxmlformats.org/drawingml/2006/main" x="619125" y="3667125"/>
          <a:ext xmlns:a="http://schemas.openxmlformats.org/drawingml/2006/main" cx="10953750" cy="1905000"/>
        </p:xfrm>
        <a:graphic xmlns:a="http://schemas.openxmlformats.org/drawingml/2006/main">
          <a:graphicData uri="http://schemas.openxmlformats.org/drawingml/2006/table">
            <a:tbl>
              <a:tblPr/>
              <a:tblGrid>
                <a:gridCol w="3333750"/>
                <a:gridCol w="3810000"/>
                <a:gridCol w="3810000"/>
              </a:tblGrid>
              <a:tr h="476250">
                <a:tc>
                  <a:txBody>
                    <a:bodyPr/>
                    <a:lstStyle/>
                    <a:p>
                      <a:r>
                        <a:rPr sz="1725" b="1">
                          <a:solidFill>
                            <a:srgbClr val="FFFFFF"/>
                          </a:solidFill>
                          <a:latin typeface="Arial"/>
                          <a:ea typeface="Arial"/>
                          <a:cs typeface="Arial"/>
                        </a:rPr>
                        <a:t>Normalized score</a:t>
                      </a:r>
                    </a:p>
                  </a:txBody>
                  <a:tcPr marL="91440" marR="91440" marT="45720" marB="45720">
                    <a:solidFill>
                      <a:srgbClr val="226A5B"/>
                    </a:solidFill>
                  </a:tcPr>
                </a:tc>
                <a:tc>
                  <a:txBody>
                    <a:bodyPr/>
                    <a:lstStyle/>
                    <a:p>
                      <a:r>
                        <a:rPr sz="1725" b="1">
                          <a:solidFill>
                            <a:srgbClr val="FFFFFF"/>
                          </a:solidFill>
                          <a:latin typeface="Arial"/>
                          <a:ea typeface="Arial"/>
                          <a:cs typeface="Arial"/>
                        </a:rPr>
                        <a:t>Dependencies D</a:t>
                      </a:r>
                    </a:p>
                  </a:txBody>
                  <a:tcPr marL="91440" marR="91440" marT="45720" marB="45720">
                    <a:solidFill>
                      <a:srgbClr val="226A5B"/>
                    </a:solidFill>
                  </a:tcPr>
                </a:tc>
                <a:tc>
                  <a:txBody>
                    <a:bodyPr/>
                    <a:lstStyle/>
                    <a:p>
                      <a:r>
                        <a:rPr sz="1725" b="1">
                          <a:solidFill>
                            <a:srgbClr val="FFFFFF"/>
                          </a:solidFill>
                          <a:latin typeface="Arial"/>
                          <a:ea typeface="Arial"/>
                          <a:cs typeface="Arial"/>
                        </a:rPr>
                        <a:t>Coverage C</a:t>
                      </a:r>
                    </a:p>
                  </a:txBody>
                  <a:tcPr marL="91440" marR="91440" marT="45720" marB="45720">
                    <a:solidFill>
                      <a:srgbClr val="226A5B"/>
                    </a:solidFill>
                  </a:tcPr>
                </a:tc>
              </a:tr>
              <a:tr h="476250">
                <a:tc>
                  <a:txBody>
                    <a:bodyPr/>
                    <a:lstStyle/>
                    <a:p>
                      <a:r>
                        <a:rPr sz="1725" b="0">
                          <a:solidFill>
                            <a:srgbClr val="203549"/>
                          </a:solidFill>
                          <a:latin typeface="Arial"/>
                          <a:ea typeface="Arial"/>
                          <a:cs typeface="Arial"/>
                        </a:rPr>
                        <a:t>0.0</a:t>
                      </a:r>
                    </a:p>
                  </a:txBody>
                  <a:tcPr marL="91440" marR="91440" marT="45720" marB="45720">
                    <a:solidFill>
                      <a:srgbClr val="F1F5F7"/>
                    </a:solidFill>
                  </a:tcPr>
                </a:tc>
                <a:tc>
                  <a:txBody>
                    <a:bodyPr/>
                    <a:lstStyle/>
                    <a:p>
                      <a:r>
                        <a:rPr sz="1725" b="0">
                          <a:solidFill>
                            <a:srgbClr val="203549"/>
                          </a:solidFill>
                          <a:latin typeface="Arial"/>
                          <a:ea typeface="Arial"/>
                          <a:cs typeface="Arial"/>
                        </a:rPr>
                        <a:t>30 or fewer</a:t>
                      </a:r>
                    </a:p>
                  </a:txBody>
                  <a:tcPr marL="91440" marR="91440" marT="45720" marB="45720">
                    <a:solidFill>
                      <a:srgbClr val="F1F5F7"/>
                    </a:solidFill>
                  </a:tcPr>
                </a:tc>
                <a:tc>
                  <a:txBody>
                    <a:bodyPr/>
                    <a:lstStyle/>
                    <a:p>
                      <a:r>
                        <a:rPr sz="1725" b="0">
                          <a:solidFill>
                            <a:srgbClr val="203549"/>
                          </a:solidFill>
                          <a:latin typeface="Arial"/>
                          <a:ea typeface="Arial"/>
                          <a:cs typeface="Arial"/>
                        </a:rPr>
                        <a:t>80% or higher</a:t>
                      </a:r>
                    </a:p>
                  </a:txBody>
                  <a:tcPr marL="91440" marR="91440" marT="45720" marB="45720">
                    <a:solidFill>
                      <a:srgbClr val="F1F5F7"/>
                    </a:solidFill>
                  </a:tcPr>
                </a:tc>
              </a:tr>
              <a:tr h="476250">
                <a:tc>
                  <a:txBody>
                    <a:bodyPr/>
                    <a:lstStyle/>
                    <a:p>
                      <a:r>
                        <a:rPr sz="1725" b="0">
                          <a:solidFill>
                            <a:srgbClr val="203549"/>
                          </a:solidFill>
                          <a:latin typeface="Arial"/>
                          <a:ea typeface="Arial"/>
                          <a:cs typeface="Arial"/>
                        </a:rPr>
                        <a:t>0.5</a:t>
                      </a:r>
                    </a:p>
                  </a:txBody>
                  <a:tcPr marL="91440" marR="91440" marT="45720" marB="45720">
                    <a:solidFill>
                      <a:srgbClr val="FFFFFF"/>
                    </a:solidFill>
                  </a:tcPr>
                </a:tc>
                <a:tc>
                  <a:txBody>
                    <a:bodyPr/>
                    <a:lstStyle/>
                    <a:p>
                      <a:r>
                        <a:rPr sz="1725" b="0">
                          <a:solidFill>
                            <a:srgbClr val="203549"/>
                          </a:solidFill>
                          <a:latin typeface="Arial"/>
                          <a:ea typeface="Arial"/>
                          <a:cs typeface="Arial"/>
                        </a:rPr>
                        <a:t>75</a:t>
                      </a:r>
                    </a:p>
                  </a:txBody>
                  <a:tcPr marL="91440" marR="91440" marT="45720" marB="45720">
                    <a:solidFill>
                      <a:srgbClr val="FFFFFF"/>
                    </a:solidFill>
                  </a:tcPr>
                </a:tc>
                <a:tc>
                  <a:txBody>
                    <a:bodyPr/>
                    <a:lstStyle/>
                    <a:p>
                      <a:r>
                        <a:rPr sz="1725" b="0">
                          <a:solidFill>
                            <a:srgbClr val="203549"/>
                          </a:solidFill>
                          <a:latin typeface="Arial"/>
                          <a:ea typeface="Arial"/>
                          <a:cs typeface="Arial"/>
                        </a:rPr>
                        <a:t>55%</a:t>
                      </a:r>
                    </a:p>
                  </a:txBody>
                  <a:tcPr marL="91440" marR="91440" marT="45720" marB="45720">
                    <a:solidFill>
                      <a:srgbClr val="FFFFFF"/>
                    </a:solidFill>
                  </a:tcPr>
                </a:tc>
              </a:tr>
              <a:tr h="476250">
                <a:tc>
                  <a:txBody>
                    <a:bodyPr/>
                    <a:lstStyle/>
                    <a:p>
                      <a:r>
                        <a:rPr sz="1725" b="0">
                          <a:solidFill>
                            <a:srgbClr val="203549"/>
                          </a:solidFill>
                          <a:latin typeface="Arial"/>
                          <a:ea typeface="Arial"/>
                          <a:cs typeface="Arial"/>
                        </a:rPr>
                        <a:t>1.0</a:t>
                      </a:r>
                    </a:p>
                  </a:txBody>
                  <a:tcPr marL="91440" marR="91440" marT="45720" marB="45720">
                    <a:solidFill>
                      <a:srgbClr val="F1F5F7"/>
                    </a:solidFill>
                  </a:tcPr>
                </a:tc>
                <a:tc>
                  <a:txBody>
                    <a:bodyPr/>
                    <a:lstStyle/>
                    <a:p>
                      <a:r>
                        <a:rPr sz="1725" b="0">
                          <a:solidFill>
                            <a:srgbClr val="203549"/>
                          </a:solidFill>
                          <a:latin typeface="Arial"/>
                          <a:ea typeface="Arial"/>
                          <a:cs typeface="Arial"/>
                        </a:rPr>
                        <a:t>120 or more</a:t>
                      </a:r>
                    </a:p>
                  </a:txBody>
                  <a:tcPr marL="91440" marR="91440" marT="45720" marB="45720">
                    <a:solidFill>
                      <a:srgbClr val="F1F5F7"/>
                    </a:solidFill>
                  </a:tcPr>
                </a:tc>
                <a:tc>
                  <a:txBody>
                    <a:bodyPr/>
                    <a:lstStyle/>
                    <a:p>
                      <a:r>
                        <a:rPr sz="1725" b="0">
                          <a:solidFill>
                            <a:srgbClr val="203549"/>
                          </a:solidFill>
                          <a:latin typeface="Arial"/>
                          <a:ea typeface="Arial"/>
                          <a:cs typeface="Arial"/>
                        </a:rPr>
                        <a:t>30% or lower</a:t>
                      </a:r>
                    </a:p>
                  </a:txBody>
                  <a:tcPr marL="91440" marR="91440" marT="45720" marB="45720">
                    <a:solidFill>
                      <a:srgbClr val="F1F5F7"/>
                    </a:solidFill>
                  </a:tcPr>
                </a:tc>
              </a:tr>
            </a:tbl>
          </a:graphicData>
        </a:graphic>
      </p:graphicFrame>
      <p:sp>
        <p:nvSpPr>
          <p:cNvPr id="7" name="">
            <a:extLst xmlns:a="http://schemas.openxmlformats.org/drawingml/2006/main">
              <a:ext uri="{FF2B5EF4-FFF2-40B4-BE49-F238E27FC236}">
                <a16:creationId xmlns:a16="http://schemas.microsoft.com/office/drawing/2014/main" id="{C850555E-55CD-41E8-A7AC-DCEC78499A7F}"/>
              </a:ext>
            </a:extLst>
          </p:cNvPr>
          <p:cNvSpPr>
            <a:spLocks xmlns:a="http://schemas.openxmlformats.org/drawingml/2006/main" noGrp="1"/>
          </p:cNvSpPr>
          <p:nvPr/>
        </p:nvSpPr>
        <p:spPr>
          <a:xfrm xmlns:a="http://schemas.openxmlformats.org/drawingml/2006/main">
            <a:off x="666750" y="5867400"/>
            <a:ext cx="1057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5B6F80"/>
                </a:solidFill>
                <a:latin typeface="Arial"/>
                <a:ea typeface="Arial"/>
                <a:cs typeface="Arial"/>
              </a:defRPr>
            </a:defPPr>
          </a:lstStyle>
          <a:p xmlns:a="http://schemas.openxmlformats.org/drawingml/2006/main">
            <a:pPr>
              <a:defRPr sz="1650" b="0">
                <a:solidFill>
                  <a:srgbClr val="5B6F80"/>
                </a:solidFill>
                <a:latin typeface="Arial"/>
                <a:ea typeface="Arial"/>
                <a:cs typeface="Arial"/>
              </a:defRPr>
            </a:pPr>
            <a:r>
              <a:rPr sz="1650" b="0">
                <a:solidFill>
                  <a:srgbClr val="5B6F80"/>
                </a:solidFill>
                <a:latin typeface="Arial"/>
                <a:ea typeface="Arial"/>
                <a:cs typeface="Arial"/>
              </a:rPr>
              <a:t>C is a percentage from 0 to 100. These are alternative initial scoring curves.</a:t>
            </a:r>
          </a:p>
        </p:txBody>
      </p:sp>
    </p:spTree>
    <p:extLst>
      <p:ext uri="{BB962C8B-B14F-4D97-AF65-F5344CB8AC3E}">
        <p14:creationId xmlns:p14="http://schemas.microsoft.com/office/powerpoint/2010/main" val="98531706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89E692-0BBD-492F-9003-9B2170582634}"/>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226A5B"/>
                </a:solidFill>
                <a:latin typeface="Arial"/>
                <a:ea typeface="Arial"/>
                <a:cs typeface="Arial"/>
              </a:defRPr>
            </a:defPPr>
          </a:lstStyle>
          <a:p xmlns:a="http://schemas.openxmlformats.org/drawingml/2006/main">
            <a:pPr>
              <a:defRPr sz="1275" b="1">
                <a:solidFill>
                  <a:srgbClr val="226A5B"/>
                </a:solidFill>
                <a:latin typeface="Arial"/>
                <a:ea typeface="Arial"/>
                <a:cs typeface="Arial"/>
              </a:defRPr>
            </a:pPr>
            <a:r>
              <a:rPr sz="1275" b="1">
                <a:solidFill>
                  <a:srgbClr val="226A5B"/>
                </a:solidFill>
                <a:latin typeface="Arial"/>
                <a:ea typeface="Arial"/>
                <a:cs typeface="Arial"/>
              </a:rPr>
              <a:t>SECTION 9</a:t>
            </a:r>
          </a:p>
        </p:txBody>
      </p:sp>
      <p:sp>
        <p:nvSpPr>
          <p:cNvPr id="2" name="">
            <a:extLst xmlns:a="http://schemas.openxmlformats.org/drawingml/2006/main">
              <a:ext uri="{FF2B5EF4-FFF2-40B4-BE49-F238E27FC236}">
                <a16:creationId xmlns:a16="http://schemas.microsoft.com/office/drawing/2014/main" id="{C50FF548-F4DE-4D95-8E05-CCAEB4D9CF03}"/>
              </a:ext>
            </a:extLst>
          </p:cNvPr>
          <p:cNvSpPr>
            <a:spLocks xmlns:a="http://schemas.openxmlformats.org/drawingml/2006/main" noGrp="1"/>
          </p:cNvSpPr>
          <p:nvPr/>
        </p:nvSpPr>
        <p:spPr>
          <a:xfrm xmlns:a="http://schemas.openxmlformats.org/drawingml/2006/main">
            <a:off x="609600" y="828675"/>
            <a:ext cx="1095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203549"/>
                </a:solidFill>
                <a:latin typeface="Arial"/>
                <a:ea typeface="Arial"/>
                <a:cs typeface="Arial"/>
              </a:defRPr>
            </a:defPPr>
          </a:lstStyle>
          <a:p xmlns:a="http://schemas.openxmlformats.org/drawingml/2006/main">
            <a:pPr>
              <a:defRPr sz="3000" b="1">
                <a:solidFill>
                  <a:srgbClr val="203549"/>
                </a:solidFill>
                <a:latin typeface="Arial"/>
                <a:ea typeface="Arial"/>
                <a:cs typeface="Arial"/>
              </a:defRPr>
            </a:pPr>
            <a:r>
              <a:rPr sz="3000" b="1">
                <a:solidFill>
                  <a:srgbClr val="203549"/>
                </a:solidFill>
                <a:latin typeface="Arial"/>
                <a:ea typeface="Arial"/>
                <a:cs typeface="Arial"/>
              </a:rPr>
              <a:t>Illustrative maintenance effort model</a:t>
            </a:r>
          </a:p>
        </p:txBody>
      </p:sp>
      <p:sp>
        <p:nvSpPr>
          <p:cNvPr id="3" name="">
            <a:extLst xmlns:a="http://schemas.openxmlformats.org/drawingml/2006/main">
              <a:ext uri="{FF2B5EF4-FFF2-40B4-BE49-F238E27FC236}">
                <a16:creationId xmlns:a16="http://schemas.microsoft.com/office/drawing/2014/main" id="{FFA911F3-4D8E-4EA4-8567-E8C0CEA113D6}"/>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B6F80"/>
                </a:solidFill>
                <a:latin typeface="Arial"/>
                <a:ea typeface="Arial"/>
                <a:cs typeface="Arial"/>
              </a:defRPr>
            </a:defPPr>
          </a:lstStyle>
          <a:p xmlns:a="http://schemas.openxmlformats.org/drawingml/2006/main">
            <a:pPr>
              <a:defRPr sz="1125" b="0">
                <a:solidFill>
                  <a:srgbClr val="5B6F80"/>
                </a:solidFill>
                <a:latin typeface="Arial"/>
                <a:ea typeface="Arial"/>
                <a:cs typeface="Arial"/>
              </a:defRPr>
            </a:pPr>
            <a:r>
              <a:rPr sz="1125" b="0">
                <a:solidFill>
                  <a:srgbClr val="5B6F80"/>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DDD2B4DA-8CB5-4DBF-B70F-AF15F1AD0023}"/>
              </a:ext>
            </a:extLst>
          </p:cNvPr>
          <p:cNvSpPr>
            <a:spLocks xmlns:a="http://schemas.openxmlformats.org/drawingml/2006/main" noGrp="1"/>
          </p:cNvSpPr>
          <p:nvPr/>
        </p:nvSpPr>
        <p:spPr>
          <a:xfrm xmlns:a="http://schemas.openxmlformats.org/drawingml/2006/main">
            <a:off x="666750" y="18097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226A5B"/>
                </a:solidFill>
                <a:latin typeface="Arial"/>
                <a:ea typeface="Arial"/>
                <a:cs typeface="Arial"/>
              </a:defRPr>
            </a:defPPr>
          </a:lstStyle>
          <a:p xmlns:a="http://schemas.openxmlformats.org/drawingml/2006/main">
            <a:pPr>
              <a:defRPr sz="2550" b="1">
                <a:solidFill>
                  <a:srgbClr val="226A5B"/>
                </a:solidFill>
                <a:latin typeface="Arial"/>
                <a:ea typeface="Arial"/>
                <a:cs typeface="Arial"/>
              </a:defRPr>
            </a:pPr>
            <a:r>
              <a:rPr sz="2550" b="1">
                <a:solidFill>
                  <a:srgbClr val="226A5B"/>
                </a:solidFill>
                <a:latin typeface="Arial"/>
                <a:ea typeface="Arial"/>
                <a:cs typeface="Arial"/>
              </a:rPr>
              <a:t>Annual effort = base effort × [1 + 0.15 × (K − 1)]</a:t>
            </a:r>
          </a:p>
        </p:txBody>
      </p:sp>
      <p:graphicFrame>
        <p:nvGraphicFramePr>
          <p:cNvPr id="5" name="">
            <a:extLst xmlns:a="http://schemas.openxmlformats.org/drawingml/2006/main">
              <a:ext uri="{FF2B5EF4-FFF2-40B4-BE49-F238E27FC236}">
                <a16:creationId xmlns:a16="http://schemas.microsoft.com/office/drawing/2014/main" id="{859EAD5C-601E-419D-9E78-D77FF521B661}"/>
              </a:ext>
            </a:extLst>
          </p:cNvPr>
          <p:cNvGraphicFramePr/>
          <p:nvPr/>
        </p:nvGraphicFramePr>
        <p:xfrm>
          <a:off xmlns:a="http://schemas.openxmlformats.org/drawingml/2006/main" x="619125" y="2762250"/>
          <a:ext xmlns:a="http://schemas.openxmlformats.org/drawingml/2006/main" cx="10953750" cy="2762250"/>
        </p:xfrm>
        <a:graphic xmlns:a="http://schemas.openxmlformats.org/drawingml/2006/main">
          <a:graphicData uri="http://schemas.openxmlformats.org/drawingml/2006/table">
            <a:tbl>
              <a:tblPr/>
              <a:tblGrid>
                <a:gridCol w="4286250"/>
                <a:gridCol w="6667500"/>
              </a:tblGrid>
              <a:tr h="460375">
                <a:tc>
                  <a:txBody>
                    <a:bodyPr/>
                    <a:lstStyle/>
                    <a:p>
                      <a:r>
                        <a:rPr sz="1725" b="1">
                          <a:solidFill>
                            <a:srgbClr val="FFFFFF"/>
                          </a:solidFill>
                          <a:latin typeface="Arial"/>
                          <a:ea typeface="Arial"/>
                          <a:cs typeface="Arial"/>
                        </a:rPr>
                        <a:t>Complexity K</a:t>
                      </a:r>
                    </a:p>
                  </a:txBody>
                  <a:tcPr marL="91440" marR="91440" marT="45720" marB="45720">
                    <a:solidFill>
                      <a:srgbClr val="226A5B"/>
                    </a:solidFill>
                  </a:tcPr>
                </a:tc>
                <a:tc>
                  <a:txBody>
                    <a:bodyPr/>
                    <a:lstStyle/>
                    <a:p>
                      <a:r>
                        <a:rPr sz="1725" b="1">
                          <a:solidFill>
                            <a:srgbClr val="FFFFFF"/>
                          </a:solidFill>
                          <a:latin typeface="Arial"/>
                          <a:ea typeface="Arial"/>
                          <a:cs typeface="Arial"/>
                        </a:rPr>
                        <a:t>Example effort per year</a:t>
                      </a:r>
                    </a:p>
                  </a:txBody>
                  <a:tcPr marL="91440" marR="91440" marT="45720" marB="45720">
                    <a:solidFill>
                      <a:srgbClr val="226A5B"/>
                    </a:solidFill>
                  </a:tcPr>
                </a:tc>
              </a:tr>
              <a:tr h="460375">
                <a:tc>
                  <a:txBody>
                    <a:bodyPr/>
                    <a:lstStyle/>
                    <a:p>
                      <a:r>
                        <a:rPr sz="1725" b="0">
                          <a:solidFill>
                            <a:srgbClr val="203549"/>
                          </a:solidFill>
                          <a:latin typeface="Arial"/>
                          <a:ea typeface="Arial"/>
                          <a:cs typeface="Arial"/>
                        </a:rPr>
                        <a:t>1</a:t>
                      </a:r>
                    </a:p>
                  </a:txBody>
                  <a:tcPr marL="91440" marR="91440" marT="45720" marB="45720">
                    <a:solidFill>
                      <a:srgbClr val="F1F5F7"/>
                    </a:solidFill>
                  </a:tcPr>
                </a:tc>
                <a:tc>
                  <a:txBody>
                    <a:bodyPr/>
                    <a:lstStyle/>
                    <a:p>
                      <a:r>
                        <a:rPr sz="1725" b="0">
                          <a:solidFill>
                            <a:srgbClr val="203549"/>
                          </a:solidFill>
                          <a:latin typeface="Arial"/>
                          <a:ea typeface="Arial"/>
                          <a:cs typeface="Arial"/>
                        </a:rPr>
                        <a:t>3.0 person-days</a:t>
                      </a:r>
                    </a:p>
                  </a:txBody>
                  <a:tcPr marL="91440" marR="91440" marT="45720" marB="45720">
                    <a:solidFill>
                      <a:srgbClr val="F1F5F7"/>
                    </a:solidFill>
                  </a:tcPr>
                </a:tc>
              </a:tr>
              <a:tr h="460375">
                <a:tc>
                  <a:txBody>
                    <a:bodyPr/>
                    <a:lstStyle/>
                    <a:p>
                      <a:r>
                        <a:rPr sz="1725" b="0">
                          <a:solidFill>
                            <a:srgbClr val="203549"/>
                          </a:solidFill>
                          <a:latin typeface="Arial"/>
                          <a:ea typeface="Arial"/>
                          <a:cs typeface="Arial"/>
                        </a:rPr>
                        <a:t>3</a:t>
                      </a:r>
                    </a:p>
                  </a:txBody>
                  <a:tcPr marL="91440" marR="91440" marT="45720" marB="45720">
                    <a:solidFill>
                      <a:srgbClr val="FFFFFF"/>
                    </a:solidFill>
                  </a:tcPr>
                </a:tc>
                <a:tc>
                  <a:txBody>
                    <a:bodyPr/>
                    <a:lstStyle/>
                    <a:p>
                      <a:r>
                        <a:rPr sz="1725" b="0">
                          <a:solidFill>
                            <a:srgbClr val="203549"/>
                          </a:solidFill>
                          <a:latin typeface="Arial"/>
                          <a:ea typeface="Arial"/>
                          <a:cs typeface="Arial"/>
                        </a:rPr>
                        <a:t>3.9 person-days</a:t>
                      </a:r>
                    </a:p>
                  </a:txBody>
                  <a:tcPr marL="91440" marR="91440" marT="45720" marB="45720">
                    <a:solidFill>
                      <a:srgbClr val="FFFFFF"/>
                    </a:solidFill>
                  </a:tcPr>
                </a:tc>
              </a:tr>
              <a:tr h="460375">
                <a:tc>
                  <a:txBody>
                    <a:bodyPr/>
                    <a:lstStyle/>
                    <a:p>
                      <a:r>
                        <a:rPr sz="1725" b="0">
                          <a:solidFill>
                            <a:srgbClr val="203549"/>
                          </a:solidFill>
                          <a:latin typeface="Arial"/>
                          <a:ea typeface="Arial"/>
                          <a:cs typeface="Arial"/>
                        </a:rPr>
                        <a:t>5</a:t>
                      </a:r>
                    </a:p>
                  </a:txBody>
                  <a:tcPr marL="91440" marR="91440" marT="45720" marB="45720">
                    <a:solidFill>
                      <a:srgbClr val="F1F5F7"/>
                    </a:solidFill>
                  </a:tcPr>
                </a:tc>
                <a:tc>
                  <a:txBody>
                    <a:bodyPr/>
                    <a:lstStyle/>
                    <a:p>
                      <a:r>
                        <a:rPr sz="1725" b="0">
                          <a:solidFill>
                            <a:srgbClr val="203549"/>
                          </a:solidFill>
                          <a:latin typeface="Arial"/>
                          <a:ea typeface="Arial"/>
                          <a:cs typeface="Arial"/>
                        </a:rPr>
                        <a:t>4.8 person-days</a:t>
                      </a:r>
                    </a:p>
                  </a:txBody>
                  <a:tcPr marL="91440" marR="91440" marT="45720" marB="45720">
                    <a:solidFill>
                      <a:srgbClr val="F1F5F7"/>
                    </a:solidFill>
                  </a:tcPr>
                </a:tc>
              </a:tr>
              <a:tr h="460375">
                <a:tc>
                  <a:txBody>
                    <a:bodyPr/>
                    <a:lstStyle/>
                    <a:p>
                      <a:r>
                        <a:rPr sz="1725" b="0">
                          <a:solidFill>
                            <a:srgbClr val="203549"/>
                          </a:solidFill>
                          <a:latin typeface="Arial"/>
                          <a:ea typeface="Arial"/>
                          <a:cs typeface="Arial"/>
                        </a:rPr>
                        <a:t>7</a:t>
                      </a:r>
                    </a:p>
                  </a:txBody>
                  <a:tcPr marL="91440" marR="91440" marT="45720" marB="45720">
                    <a:solidFill>
                      <a:srgbClr val="FFFFFF"/>
                    </a:solidFill>
                  </a:tcPr>
                </a:tc>
                <a:tc>
                  <a:txBody>
                    <a:bodyPr/>
                    <a:lstStyle/>
                    <a:p>
                      <a:r>
                        <a:rPr sz="1725" b="0">
                          <a:solidFill>
                            <a:srgbClr val="203549"/>
                          </a:solidFill>
                          <a:latin typeface="Arial"/>
                          <a:ea typeface="Arial"/>
                          <a:cs typeface="Arial"/>
                        </a:rPr>
                        <a:t>5.7 person-days</a:t>
                      </a:r>
                    </a:p>
                  </a:txBody>
                  <a:tcPr marL="91440" marR="91440" marT="45720" marB="45720">
                    <a:solidFill>
                      <a:srgbClr val="FFFFFF"/>
                    </a:solidFill>
                  </a:tcPr>
                </a:tc>
              </a:tr>
              <a:tr h="460375">
                <a:tc>
                  <a:txBody>
                    <a:bodyPr/>
                    <a:lstStyle/>
                    <a:p>
                      <a:r>
                        <a:rPr sz="1725" b="0">
                          <a:solidFill>
                            <a:srgbClr val="203549"/>
                          </a:solidFill>
                          <a:latin typeface="Arial"/>
                          <a:ea typeface="Arial"/>
                          <a:cs typeface="Arial"/>
                        </a:rPr>
                        <a:t>10</a:t>
                      </a:r>
                    </a:p>
                  </a:txBody>
                  <a:tcPr marL="91440" marR="91440" marT="45720" marB="45720">
                    <a:solidFill>
                      <a:srgbClr val="F1F5F7"/>
                    </a:solidFill>
                  </a:tcPr>
                </a:tc>
                <a:tc>
                  <a:txBody>
                    <a:bodyPr/>
                    <a:lstStyle/>
                    <a:p>
                      <a:r>
                        <a:rPr sz="1725" b="0">
                          <a:solidFill>
                            <a:srgbClr val="203549"/>
                          </a:solidFill>
                          <a:latin typeface="Arial"/>
                          <a:ea typeface="Arial"/>
                          <a:cs typeface="Arial"/>
                        </a:rPr>
                        <a:t>7.1 person-days</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A8E40E58-51B8-4A5E-8D44-1B301AAFAD0E}"/>
              </a:ext>
            </a:extLst>
          </p:cNvPr>
          <p:cNvSpPr>
            <a:spLocks xmlns:a="http://schemas.openxmlformats.org/drawingml/2006/main" noGrp="1"/>
          </p:cNvSpPr>
          <p:nvPr/>
        </p:nvSpPr>
        <p:spPr>
          <a:xfrm xmlns:a="http://schemas.openxmlformats.org/drawingml/2006/main">
            <a:off x="666750" y="571500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5B6F80"/>
                </a:solidFill>
                <a:latin typeface="Arial"/>
                <a:ea typeface="Arial"/>
                <a:cs typeface="Arial"/>
              </a:defRPr>
            </a:defPPr>
          </a:lstStyle>
          <a:p xmlns:a="http://schemas.openxmlformats.org/drawingml/2006/main">
            <a:pPr>
              <a:defRPr sz="1650" b="0">
                <a:solidFill>
                  <a:srgbClr val="5B6F80"/>
                </a:solidFill>
                <a:latin typeface="Arial"/>
                <a:ea typeface="Arial"/>
                <a:cs typeface="Arial"/>
              </a:defRPr>
            </a:pPr>
            <a:r>
              <a:rPr sz="1650" b="0">
                <a:solidFill>
                  <a:srgbClr val="5B6F80"/>
                </a:solidFill>
                <a:latin typeface="Arial"/>
                <a:ea typeface="Arial"/>
                <a:cs typeface="Arial"/>
              </a:rPr>
              <a:t>Illustration only: base effort 3 person-days. Calibrate the multiplier against</a:t>
            </a:r>
          </a:p>
          <a:p xmlns:a="http://schemas.openxmlformats.org/drawingml/2006/main">
            <a:pPr>
              <a:defRPr sz="1650" b="0">
                <a:solidFill>
                  <a:srgbClr val="5B6F80"/>
                </a:solidFill>
                <a:latin typeface="Arial"/>
                <a:ea typeface="Arial"/>
                <a:cs typeface="Arial"/>
              </a:defRPr>
            </a:pPr>
            <a:r>
              <a:rPr sz="1650" b="0">
                <a:solidFill>
                  <a:srgbClr val="5B6F80"/>
                </a:solidFill>
                <a:latin typeface="Arial"/>
                <a:ea typeface="Arial"/>
                <a:cs typeface="Arial"/>
              </a:rPr>
              <a:t>actual maintenance records before service pricing or capacity commitments.</a:t>
            </a:r>
          </a:p>
        </p:txBody>
      </p:sp>
    </p:spTree>
    <p:extLst>
      <p:ext uri="{BB962C8B-B14F-4D97-AF65-F5344CB8AC3E}">
        <p14:creationId xmlns:p14="http://schemas.microsoft.com/office/powerpoint/2010/main" val="193678140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54FB20-CCA4-4FD6-9C26-E4A37E4713A1}"/>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226A5B"/>
                </a:solidFill>
                <a:latin typeface="Arial"/>
                <a:ea typeface="Arial"/>
                <a:cs typeface="Arial"/>
              </a:defRPr>
            </a:defPPr>
          </a:lstStyle>
          <a:p xmlns:a="http://schemas.openxmlformats.org/drawingml/2006/main">
            <a:pPr>
              <a:defRPr sz="1275" b="1">
                <a:solidFill>
                  <a:srgbClr val="226A5B"/>
                </a:solidFill>
                <a:latin typeface="Arial"/>
                <a:ea typeface="Arial"/>
                <a:cs typeface="Arial"/>
              </a:defRPr>
            </a:pPr>
            <a:r>
              <a:rPr sz="1275" b="1">
                <a:solidFill>
                  <a:srgbClr val="226A5B"/>
                </a:solidFill>
                <a:latin typeface="Arial"/>
                <a:ea typeface="Arial"/>
                <a:cs typeface="Arial"/>
              </a:rPr>
              <a:t>SECTION 10</a:t>
            </a:r>
          </a:p>
        </p:txBody>
      </p:sp>
      <p:sp>
        <p:nvSpPr>
          <p:cNvPr id="2" name="">
            <a:extLst xmlns:a="http://schemas.openxmlformats.org/drawingml/2006/main">
              <a:ext uri="{FF2B5EF4-FFF2-40B4-BE49-F238E27FC236}">
                <a16:creationId xmlns:a16="http://schemas.microsoft.com/office/drawing/2014/main" id="{9EB52F16-071D-4F1E-9794-235A70FF8640}"/>
              </a:ext>
            </a:extLst>
          </p:cNvPr>
          <p:cNvSpPr>
            <a:spLocks xmlns:a="http://schemas.openxmlformats.org/drawingml/2006/main" noGrp="1"/>
          </p:cNvSpPr>
          <p:nvPr/>
        </p:nvSpPr>
        <p:spPr>
          <a:xfrm xmlns:a="http://schemas.openxmlformats.org/drawingml/2006/main">
            <a:off x="609600" y="828675"/>
            <a:ext cx="1095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203549"/>
                </a:solidFill>
                <a:latin typeface="Arial"/>
                <a:ea typeface="Arial"/>
                <a:cs typeface="Arial"/>
              </a:defRPr>
            </a:defPPr>
          </a:lstStyle>
          <a:p xmlns:a="http://schemas.openxmlformats.org/drawingml/2006/main">
            <a:pPr>
              <a:defRPr sz="3000" b="1">
                <a:solidFill>
                  <a:srgbClr val="203549"/>
                </a:solidFill>
                <a:latin typeface="Arial"/>
                <a:ea typeface="Arial"/>
                <a:cs typeface="Arial"/>
              </a:defRPr>
            </a:pPr>
            <a:r>
              <a:rPr sz="3000" b="1">
                <a:solidFill>
                  <a:srgbClr val="203549"/>
                </a:solidFill>
                <a:latin typeface="Arial"/>
                <a:ea typeface="Arial"/>
                <a:cs typeface="Arial"/>
              </a:rPr>
              <a:t>Separate structural complexity from change risk</a:t>
            </a:r>
          </a:p>
        </p:txBody>
      </p:sp>
      <p:sp>
        <p:nvSpPr>
          <p:cNvPr id="3" name="">
            <a:extLst xmlns:a="http://schemas.openxmlformats.org/drawingml/2006/main">
              <a:ext uri="{FF2B5EF4-FFF2-40B4-BE49-F238E27FC236}">
                <a16:creationId xmlns:a16="http://schemas.microsoft.com/office/drawing/2014/main" id="{7D7E8BC6-0B9E-46E4-A265-AF9A29772AC9}"/>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B6F80"/>
                </a:solidFill>
                <a:latin typeface="Arial"/>
                <a:ea typeface="Arial"/>
                <a:cs typeface="Arial"/>
              </a:defRPr>
            </a:defPPr>
          </a:lstStyle>
          <a:p xmlns:a="http://schemas.openxmlformats.org/drawingml/2006/main">
            <a:pPr>
              <a:defRPr sz="1125" b="0">
                <a:solidFill>
                  <a:srgbClr val="5B6F80"/>
                </a:solidFill>
                <a:latin typeface="Arial"/>
                <a:ea typeface="Arial"/>
                <a:cs typeface="Arial"/>
              </a:defRPr>
            </a:pPr>
            <a:r>
              <a:rPr sz="1125" b="0">
                <a:solidFill>
                  <a:srgbClr val="5B6F80"/>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9FE96D7E-2B9D-4B26-AD6E-EF80FED6AA60}"/>
              </a:ext>
            </a:extLst>
          </p:cNvPr>
          <p:cNvGraphicFramePr/>
          <p:nvPr/>
        </p:nvGraphicFramePr>
        <p:xfrm>
          <a:off xmlns:a="http://schemas.openxmlformats.org/drawingml/2006/main" x="619125" y="1809750"/>
          <a:ext xmlns:a="http://schemas.openxmlformats.org/drawingml/2006/main" cx="10953750" cy="2952750"/>
        </p:xfrm>
        <a:graphic xmlns:a="http://schemas.openxmlformats.org/drawingml/2006/main">
          <a:graphicData uri="http://schemas.openxmlformats.org/drawingml/2006/table">
            <a:tbl>
              <a:tblPr/>
              <a:tblGrid>
                <a:gridCol w="5476875"/>
                <a:gridCol w="5476875"/>
              </a:tblGrid>
              <a:tr h="590550">
                <a:tc>
                  <a:txBody>
                    <a:bodyPr/>
                    <a:lstStyle/>
                    <a:p>
                      <a:r>
                        <a:rPr sz="1725" b="1">
                          <a:solidFill>
                            <a:srgbClr val="FFFFFF"/>
                          </a:solidFill>
                          <a:latin typeface="Arial"/>
                          <a:ea typeface="Arial"/>
                          <a:cs typeface="Arial"/>
                        </a:rPr>
                        <a:t>Structural complexity</a:t>
                      </a:r>
                    </a:p>
                  </a:txBody>
                  <a:tcPr marL="91440" marR="91440" marT="45720" marB="45720">
                    <a:solidFill>
                      <a:srgbClr val="226A5B"/>
                    </a:solidFill>
                  </a:tcPr>
                </a:tc>
                <a:tc>
                  <a:txBody>
                    <a:bodyPr/>
                    <a:lstStyle/>
                    <a:p>
                      <a:r>
                        <a:rPr sz="1725" b="1">
                          <a:solidFill>
                            <a:srgbClr val="FFFFFF"/>
                          </a:solidFill>
                          <a:latin typeface="Arial"/>
                          <a:ea typeface="Arial"/>
                          <a:cs typeface="Arial"/>
                        </a:rPr>
                        <a:t>Maintenance/change risk</a:t>
                      </a:r>
                    </a:p>
                  </a:txBody>
                  <a:tcPr marL="91440" marR="91440" marT="45720" marB="45720">
                    <a:solidFill>
                      <a:srgbClr val="226A5B"/>
                    </a:solidFill>
                  </a:tcPr>
                </a:tc>
              </a:tr>
              <a:tr h="590550">
                <a:tc>
                  <a:txBody>
                    <a:bodyPr/>
                    <a:lstStyle/>
                    <a:p>
                      <a:r>
                        <a:rPr sz="1725" b="0">
                          <a:solidFill>
                            <a:srgbClr val="203549"/>
                          </a:solidFill>
                          <a:latin typeface="Arial"/>
                          <a:ea typeface="Arial"/>
                          <a:cs typeface="Arial"/>
                        </a:rPr>
                        <a:t>LOC, packages and dependencies</a:t>
                      </a:r>
                    </a:p>
                  </a:txBody>
                  <a:tcPr marL="91440" marR="91440" marT="45720" marB="45720">
                    <a:solidFill>
                      <a:srgbClr val="F1F5F7"/>
                    </a:solidFill>
                  </a:tcPr>
                </a:tc>
                <a:tc>
                  <a:txBody>
                    <a:bodyPr/>
                    <a:lstStyle/>
                    <a:p>
                      <a:r>
                        <a:rPr sz="1725" b="0">
                          <a:solidFill>
                            <a:srgbClr val="203549"/>
                          </a:solidFill>
                          <a:latin typeface="Arial"/>
                          <a:ea typeface="Arial"/>
                          <a:cs typeface="Arial"/>
                        </a:rPr>
                        <a:t>JVM / Spring Boot support status</a:t>
                      </a:r>
                    </a:p>
                  </a:txBody>
                  <a:tcPr marL="91440" marR="91440" marT="45720" marB="45720">
                    <a:solidFill>
                      <a:srgbClr val="F1F5F7"/>
                    </a:solidFill>
                  </a:tcPr>
                </a:tc>
              </a:tr>
              <a:tr h="590550">
                <a:tc>
                  <a:txBody>
                    <a:bodyPr/>
                    <a:lstStyle/>
                    <a:p>
                      <a:r>
                        <a:rPr sz="1725" b="0">
                          <a:solidFill>
                            <a:srgbClr val="203549"/>
                          </a:solidFill>
                          <a:latin typeface="Arial"/>
                          <a:ea typeface="Arial"/>
                          <a:cs typeface="Arial"/>
                        </a:rPr>
                        <a:t>Clients and exposed interfaces</a:t>
                      </a:r>
                    </a:p>
                  </a:txBody>
                  <a:tcPr marL="91440" marR="91440" marT="45720" marB="45720">
                    <a:solidFill>
                      <a:srgbClr val="FFFFFF"/>
                    </a:solidFill>
                  </a:tcPr>
                </a:tc>
                <a:tc>
                  <a:txBody>
                    <a:bodyPr/>
                    <a:lstStyle/>
                    <a:p>
                      <a:r>
                        <a:rPr sz="1725" b="0">
                          <a:solidFill>
                            <a:srgbClr val="203549"/>
                          </a:solidFill>
                          <a:latin typeface="Arial"/>
                          <a:ea typeface="Arial"/>
                          <a:cs typeface="Arial"/>
                        </a:rPr>
                        <a:t>Security findings and test coverage</a:t>
                      </a:r>
                    </a:p>
                  </a:txBody>
                  <a:tcPr marL="91440" marR="91440" marT="45720" marB="45720">
                    <a:solidFill>
                      <a:srgbClr val="FFFFFF"/>
                    </a:solidFill>
                  </a:tcPr>
                </a:tc>
              </a:tr>
              <a:tr h="590550">
                <a:tc>
                  <a:txBody>
                    <a:bodyPr/>
                    <a:lstStyle/>
                    <a:p>
                      <a:r>
                        <a:rPr sz="1725" b="0">
                          <a:solidFill>
                            <a:srgbClr val="203549"/>
                          </a:solidFill>
                          <a:latin typeface="Arial"/>
                          <a:ea typeface="Arial"/>
                          <a:cs typeface="Arial"/>
                        </a:rPr>
                        <a:t>Database and architecture</a:t>
                      </a:r>
                    </a:p>
                  </a:txBody>
                  <a:tcPr marL="91440" marR="91440" marT="45720" marB="45720">
                    <a:solidFill>
                      <a:srgbClr val="F1F5F7"/>
                    </a:solidFill>
                  </a:tcPr>
                </a:tc>
                <a:tc>
                  <a:txBody>
                    <a:bodyPr/>
                    <a:lstStyle/>
                    <a:p>
                      <a:r>
                        <a:rPr sz="1725" b="0">
                          <a:solidFill>
                            <a:srgbClr val="203549"/>
                          </a:solidFill>
                          <a:latin typeface="Arial"/>
                          <a:ea typeface="Arial"/>
                          <a:cs typeface="Arial"/>
                        </a:rPr>
                        <a:t>Integration tests and technical debt</a:t>
                      </a:r>
                    </a:p>
                  </a:txBody>
                  <a:tcPr marL="91440" marR="91440" marT="45720" marB="45720">
                    <a:solidFill>
                      <a:srgbClr val="F1F5F7"/>
                    </a:solidFill>
                  </a:tcPr>
                </a:tc>
              </a:tr>
              <a:tr h="590550">
                <a:tc>
                  <a:txBody>
                    <a:bodyPr/>
                    <a:lstStyle/>
                    <a:p>
                      <a:r>
                        <a:rPr sz="1725" b="0">
                          <a:solidFill>
                            <a:srgbClr val="203549"/>
                          </a:solidFill>
                          <a:latin typeface="Arial"/>
                          <a:ea typeface="Arial"/>
                          <a:cs typeface="Arial"/>
                        </a:rPr>
                        <a:t>Coupling and package cycles</a:t>
                      </a:r>
                    </a:p>
                  </a:txBody>
                  <a:tcPr marL="91440" marR="91440" marT="45720" marB="45720">
                    <a:solidFill>
                      <a:srgbClr val="FFFFFF"/>
                    </a:solidFill>
                  </a:tcPr>
                </a:tc>
                <a:tc>
                  <a:txBody>
                    <a:bodyPr/>
                    <a:lstStyle/>
                    <a:p>
                      <a:r>
                        <a:rPr sz="1725" b="0">
                          <a:solidFill>
                            <a:srgbClr val="203549"/>
                          </a:solidFill>
                          <a:latin typeface="Arial"/>
                          <a:ea typeface="Arial"/>
                          <a:cs typeface="Arial"/>
                        </a:rPr>
                        <a:t>Change frequency and ownership concentration</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0B19C76-83EA-42AB-8BFC-66A84E6C24C5}"/>
              </a:ext>
            </a:extLst>
          </p:cNvPr>
          <p:cNvSpPr>
            <a:spLocks xmlns:a="http://schemas.openxmlformats.org/drawingml/2006/main" noGrp="1"/>
          </p:cNvSpPr>
          <p:nvPr/>
        </p:nvSpPr>
        <p:spPr>
          <a:xfrm xmlns:a="http://schemas.openxmlformats.org/drawingml/2006/main">
            <a:off x="666750" y="533400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5B6F80"/>
                </a:solidFill>
                <a:latin typeface="Arial"/>
                <a:ea typeface="Arial"/>
                <a:cs typeface="Arial"/>
              </a:defRPr>
            </a:defPPr>
          </a:lstStyle>
          <a:p xmlns:a="http://schemas.openxmlformats.org/drawingml/2006/main">
            <a:pPr>
              <a:defRPr sz="1875" b="0">
                <a:solidFill>
                  <a:srgbClr val="5B6F80"/>
                </a:solidFill>
                <a:latin typeface="Arial"/>
                <a:ea typeface="Arial"/>
                <a:cs typeface="Arial"/>
              </a:defRPr>
            </a:pPr>
            <a:r>
              <a:rPr sz="1875" b="0">
                <a:solidFill>
                  <a:srgbClr val="5B6F80"/>
                </a:solidFill>
                <a:latin typeface="Arial"/>
                <a:ea typeface="Arial"/>
                <a:cs typeface="Arial"/>
              </a:rPr>
              <a:t>Show both dimensions and weighted data availability per application.</a:t>
            </a:r>
          </a:p>
          <a:p xmlns:a="http://schemas.openxmlformats.org/drawingml/2006/main">
            <a:pPr>
              <a:defRPr sz="1875" b="0">
                <a:solidFill>
                  <a:srgbClr val="5B6F80"/>
                </a:solidFill>
                <a:latin typeface="Arial"/>
                <a:ea typeface="Arial"/>
                <a:cs typeface="Arial"/>
              </a:defRPr>
            </a:pPr>
            <a:r>
              <a:rPr sz="1875" b="0">
                <a:solidFill>
                  <a:srgbClr val="5B6F80"/>
                </a:solidFill>
                <a:latin typeface="Arial"/>
                <a:ea typeface="Arial"/>
                <a:cs typeface="Arial"/>
              </a:rPr>
              <a:t>Missing measurements must remain unknown rather than becoming a healthy zero.</a:t>
            </a:r>
          </a:p>
        </p:txBody>
      </p:sp>
    </p:spTree>
    <p:extLst>
      <p:ext uri="{BB962C8B-B14F-4D97-AF65-F5344CB8AC3E}">
        <p14:creationId xmlns:p14="http://schemas.microsoft.com/office/powerpoint/2010/main" val="116948917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7459AF0-CDF6-4AEC-AAAB-F9D23F6120D3}"/>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226A5B"/>
                </a:solidFill>
                <a:latin typeface="Arial"/>
                <a:ea typeface="Arial"/>
                <a:cs typeface="Arial"/>
              </a:defRPr>
            </a:defPPr>
          </a:lstStyle>
          <a:p xmlns:a="http://schemas.openxmlformats.org/drawingml/2006/main">
            <a:pPr>
              <a:defRPr sz="1275" b="1">
                <a:solidFill>
                  <a:srgbClr val="226A5B"/>
                </a:solidFill>
                <a:latin typeface="Arial"/>
                <a:ea typeface="Arial"/>
                <a:cs typeface="Arial"/>
              </a:defRPr>
            </a:pPr>
            <a:r>
              <a:rPr sz="1275" b="1">
                <a:solidFill>
                  <a:srgbClr val="226A5B"/>
                </a:solidFill>
                <a:latin typeface="Arial"/>
                <a:ea typeface="Arial"/>
                <a:cs typeface="Arial"/>
              </a:rPr>
              <a:t>SECTION 10</a:t>
            </a:r>
          </a:p>
        </p:txBody>
      </p:sp>
      <p:sp>
        <p:nvSpPr>
          <p:cNvPr id="2" name="">
            <a:extLst xmlns:a="http://schemas.openxmlformats.org/drawingml/2006/main">
              <a:ext uri="{FF2B5EF4-FFF2-40B4-BE49-F238E27FC236}">
                <a16:creationId xmlns:a16="http://schemas.microsoft.com/office/drawing/2014/main" id="{015A76BA-35DA-4998-935B-86DE3ADB875D}"/>
              </a:ext>
            </a:extLst>
          </p:cNvPr>
          <p:cNvSpPr>
            <a:spLocks xmlns:a="http://schemas.openxmlformats.org/drawingml/2006/main" noGrp="1"/>
          </p:cNvSpPr>
          <p:nvPr/>
        </p:nvSpPr>
        <p:spPr>
          <a:xfrm xmlns:a="http://schemas.openxmlformats.org/drawingml/2006/main">
            <a:off x="609600" y="828675"/>
            <a:ext cx="1095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203549"/>
                </a:solidFill>
                <a:latin typeface="Arial"/>
                <a:ea typeface="Arial"/>
                <a:cs typeface="Arial"/>
              </a:defRPr>
            </a:defPPr>
          </a:lstStyle>
          <a:p xmlns:a="http://schemas.openxmlformats.org/drawingml/2006/main">
            <a:pPr>
              <a:defRPr sz="3000" b="1">
                <a:solidFill>
                  <a:srgbClr val="203549"/>
                </a:solidFill>
                <a:latin typeface="Arial"/>
                <a:ea typeface="Arial"/>
                <a:cs typeface="Arial"/>
              </a:defRPr>
            </a:pPr>
            <a:r>
              <a:rPr sz="3000" b="1">
                <a:solidFill>
                  <a:srgbClr val="203549"/>
                </a:solidFill>
                <a:latin typeface="Arial"/>
                <a:ea typeface="Arial"/>
                <a:cs typeface="Arial"/>
              </a:rPr>
              <a:t>Pilot calibration and rollout across 100 applications</a:t>
            </a:r>
          </a:p>
        </p:txBody>
      </p:sp>
      <p:sp>
        <p:nvSpPr>
          <p:cNvPr id="3" name="">
            <a:extLst xmlns:a="http://schemas.openxmlformats.org/drawingml/2006/main">
              <a:ext uri="{FF2B5EF4-FFF2-40B4-BE49-F238E27FC236}">
                <a16:creationId xmlns:a16="http://schemas.microsoft.com/office/drawing/2014/main" id="{60EA1638-A05C-4697-84F3-537E1699112A}"/>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B6F80"/>
                </a:solidFill>
                <a:latin typeface="Arial"/>
                <a:ea typeface="Arial"/>
                <a:cs typeface="Arial"/>
              </a:defRPr>
            </a:defPPr>
          </a:lstStyle>
          <a:p xmlns:a="http://schemas.openxmlformats.org/drawingml/2006/main">
            <a:pPr>
              <a:defRPr sz="1125" b="0">
                <a:solidFill>
                  <a:srgbClr val="5B6F80"/>
                </a:solidFill>
                <a:latin typeface="Arial"/>
                <a:ea typeface="Arial"/>
                <a:cs typeface="Arial"/>
              </a:defRPr>
            </a:pPr>
            <a:r>
              <a:rPr sz="1125" b="0">
                <a:solidFill>
                  <a:srgbClr val="5B6F80"/>
                </a:solidFill>
                <a:latin typeface="Arial"/>
                <a:ea typeface="Arial"/>
                <a:cs typeface="Arial"/>
              </a:rPr>
              <a:t>15</a:t>
            </a:r>
          </a:p>
        </p:txBody>
      </p:sp>
      <p:graphicFrame>
        <p:nvGraphicFramePr>
          <p:cNvPr id="4" name="">
            <a:extLst xmlns:a="http://schemas.openxmlformats.org/drawingml/2006/main">
              <a:ext uri="{FF2B5EF4-FFF2-40B4-BE49-F238E27FC236}">
                <a16:creationId xmlns:a16="http://schemas.microsoft.com/office/drawing/2014/main" id="{61649B01-D538-487A-9169-33958D689F83}"/>
              </a:ext>
            </a:extLst>
          </p:cNvPr>
          <p:cNvGraphicFramePr/>
          <p:nvPr/>
        </p:nvGraphicFramePr>
        <p:xfrm>
          <a:off xmlns:a="http://schemas.openxmlformats.org/drawingml/2006/main" x="619125" y="1809750"/>
          <a:ext xmlns:a="http://schemas.openxmlformats.org/drawingml/2006/main" cx="10953750" cy="3190875"/>
        </p:xfrm>
        <a:graphic xmlns:a="http://schemas.openxmlformats.org/drawingml/2006/main">
          <a:graphicData uri="http://schemas.openxmlformats.org/drawingml/2006/table">
            <a:tbl>
              <a:tblPr/>
              <a:tblGrid>
                <a:gridCol w="2095500"/>
                <a:gridCol w="4191000"/>
                <a:gridCol w="4667250"/>
              </a:tblGrid>
              <a:tr h="638175">
                <a:tc>
                  <a:txBody>
                    <a:bodyPr/>
                    <a:lstStyle/>
                    <a:p>
                      <a:r>
                        <a:rPr sz="1725" b="1">
                          <a:solidFill>
                            <a:srgbClr val="FFFFFF"/>
                          </a:solidFill>
                          <a:latin typeface="Arial"/>
                          <a:ea typeface="Arial"/>
                          <a:cs typeface="Arial"/>
                        </a:rPr>
                        <a:t>Step</a:t>
                      </a:r>
                    </a:p>
                  </a:txBody>
                  <a:tcPr marL="91440" marR="91440" marT="45720" marB="45720">
                    <a:solidFill>
                      <a:srgbClr val="226A5B"/>
                    </a:solidFill>
                  </a:tcPr>
                </a:tc>
                <a:tc>
                  <a:txBody>
                    <a:bodyPr/>
                    <a:lstStyle/>
                    <a:p>
                      <a:r>
                        <a:rPr sz="1725" b="1">
                          <a:solidFill>
                            <a:srgbClr val="FFFFFF"/>
                          </a:solidFill>
                          <a:latin typeface="Arial"/>
                          <a:ea typeface="Arial"/>
                          <a:cs typeface="Arial"/>
                        </a:rPr>
                        <a:t>Scope</a:t>
                      </a:r>
                    </a:p>
                  </a:txBody>
                  <a:tcPr marL="91440" marR="91440" marT="45720" marB="45720">
                    <a:solidFill>
                      <a:srgbClr val="226A5B"/>
                    </a:solidFill>
                  </a:tcPr>
                </a:tc>
                <a:tc>
                  <a:txBody>
                    <a:bodyPr/>
                    <a:lstStyle/>
                    <a:p>
                      <a:r>
                        <a:rPr sz="1725" b="1">
                          <a:solidFill>
                            <a:srgbClr val="FFFFFF"/>
                          </a:solidFill>
                          <a:latin typeface="Arial"/>
                          <a:ea typeface="Arial"/>
                          <a:cs typeface="Arial"/>
                        </a:rPr>
                        <a:t>Result</a:t>
                      </a:r>
                    </a:p>
                  </a:txBody>
                  <a:tcPr marL="91440" marR="91440" marT="45720" marB="45720">
                    <a:solidFill>
                      <a:srgbClr val="226A5B"/>
                    </a:solidFill>
                  </a:tcPr>
                </a:tc>
              </a:tr>
              <a:tr h="638175">
                <a:tc>
                  <a:txBody>
                    <a:bodyPr/>
                    <a:lstStyle/>
                    <a:p>
                      <a:r>
                        <a:rPr sz="1725" b="0">
                          <a:solidFill>
                            <a:srgbClr val="203549"/>
                          </a:solidFill>
                          <a:latin typeface="Arial"/>
                          <a:ea typeface="Arial"/>
                          <a:cs typeface="Arial"/>
                        </a:rPr>
                        <a:t>Pilot</a:t>
                      </a:r>
                    </a:p>
                  </a:txBody>
                  <a:tcPr marL="91440" marR="91440" marT="45720" marB="45720">
                    <a:solidFill>
                      <a:srgbClr val="F1F5F7"/>
                    </a:solidFill>
                  </a:tcPr>
                </a:tc>
                <a:tc>
                  <a:txBody>
                    <a:bodyPr/>
                    <a:lstStyle/>
                    <a:p>
                      <a:r>
                        <a:rPr sz="1725" b="0">
                          <a:solidFill>
                            <a:srgbClr val="203549"/>
                          </a:solidFill>
                          <a:latin typeface="Arial"/>
                          <a:ea typeface="Arial"/>
                          <a:cs typeface="Arial"/>
                        </a:rPr>
                        <a:t>10 representative applications</a:t>
                      </a:r>
                    </a:p>
                  </a:txBody>
                  <a:tcPr marL="91440" marR="91440" marT="45720" marB="45720">
                    <a:solidFill>
                      <a:srgbClr val="F1F5F7"/>
                    </a:solidFill>
                  </a:tcPr>
                </a:tc>
                <a:tc>
                  <a:txBody>
                    <a:bodyPr/>
                    <a:lstStyle/>
                    <a:p>
                      <a:r>
                        <a:rPr sz="1725" b="0">
                          <a:solidFill>
                            <a:srgbClr val="203549"/>
                          </a:solidFill>
                          <a:latin typeface="Arial"/>
                          <a:ea typeface="Arial"/>
                          <a:cs typeface="Arial"/>
                        </a:rPr>
                        <a:t>Check metrics and review outliers</a:t>
                      </a:r>
                    </a:p>
                  </a:txBody>
                  <a:tcPr marL="91440" marR="91440" marT="45720" marB="45720">
                    <a:solidFill>
                      <a:srgbClr val="F1F5F7"/>
                    </a:solidFill>
                  </a:tcPr>
                </a:tc>
              </a:tr>
              <a:tr h="638175">
                <a:tc>
                  <a:txBody>
                    <a:bodyPr/>
                    <a:lstStyle/>
                    <a:p>
                      <a:r>
                        <a:rPr sz="1725" b="0">
                          <a:solidFill>
                            <a:srgbClr val="203549"/>
                          </a:solidFill>
                          <a:latin typeface="Arial"/>
                          <a:ea typeface="Arial"/>
                          <a:cs typeface="Arial"/>
                        </a:rPr>
                        <a:t>Calibration</a:t>
                      </a:r>
                    </a:p>
                  </a:txBody>
                  <a:tcPr marL="91440" marR="91440" marT="45720" marB="45720">
                    <a:solidFill>
                      <a:srgbClr val="FFFFFF"/>
                    </a:solidFill>
                  </a:tcPr>
                </a:tc>
                <a:tc>
                  <a:txBody>
                    <a:bodyPr/>
                    <a:lstStyle/>
                    <a:p>
                      <a:r>
                        <a:rPr sz="1725" b="0">
                          <a:solidFill>
                            <a:srgbClr val="203549"/>
                          </a:solidFill>
                          <a:latin typeface="Arial"/>
                          <a:ea typeface="Arial"/>
                          <a:cs typeface="Arial"/>
                        </a:rPr>
                        <a:t>Actual maintenance experience</a:t>
                      </a:r>
                    </a:p>
                  </a:txBody>
                  <a:tcPr marL="91440" marR="91440" marT="45720" marB="45720">
                    <a:solidFill>
                      <a:srgbClr val="FFFFFF"/>
                    </a:solidFill>
                  </a:tcPr>
                </a:tc>
                <a:tc>
                  <a:txBody>
                    <a:bodyPr/>
                    <a:lstStyle/>
                    <a:p>
                      <a:r>
                        <a:rPr sz="1725" b="0">
                          <a:solidFill>
                            <a:srgbClr val="203549"/>
                          </a:solidFill>
                          <a:latin typeface="Arial"/>
                          <a:ea typeface="Arial"/>
                          <a:cs typeface="Arial"/>
                        </a:rPr>
                        <a:t>Adjust weights and thresholds</a:t>
                      </a:r>
                    </a:p>
                  </a:txBody>
                  <a:tcPr marL="91440" marR="91440" marT="45720" marB="45720">
                    <a:solidFill>
                      <a:srgbClr val="FFFFFF"/>
                    </a:solidFill>
                  </a:tcPr>
                </a:tc>
              </a:tr>
              <a:tr h="638175">
                <a:tc>
                  <a:txBody>
                    <a:bodyPr/>
                    <a:lstStyle/>
                    <a:p>
                      <a:r>
                        <a:rPr sz="1725" b="0">
                          <a:solidFill>
                            <a:srgbClr val="203549"/>
                          </a:solidFill>
                          <a:latin typeface="Arial"/>
                          <a:ea typeface="Arial"/>
                          <a:cs typeface="Arial"/>
                        </a:rPr>
                        <a:t>Portfolio scan</a:t>
                      </a:r>
                    </a:p>
                  </a:txBody>
                  <a:tcPr marL="91440" marR="91440" marT="45720" marB="45720">
                    <a:solidFill>
                      <a:srgbClr val="F1F5F7"/>
                    </a:solidFill>
                  </a:tcPr>
                </a:tc>
                <a:tc>
                  <a:txBody>
                    <a:bodyPr/>
                    <a:lstStyle/>
                    <a:p>
                      <a:r>
                        <a:rPr sz="1725" b="0">
                          <a:solidFill>
                            <a:srgbClr val="203549"/>
                          </a:solidFill>
                          <a:latin typeface="Arial"/>
                          <a:ea typeface="Arial"/>
                          <a:cs typeface="Arial"/>
                        </a:rPr>
                        <a:t>All 100 applications</a:t>
                      </a:r>
                    </a:p>
                  </a:txBody>
                  <a:tcPr marL="91440" marR="91440" marT="45720" marB="45720">
                    <a:solidFill>
                      <a:srgbClr val="F1F5F7"/>
                    </a:solidFill>
                  </a:tcPr>
                </a:tc>
                <a:tc>
                  <a:txBody>
                    <a:bodyPr/>
                    <a:lstStyle/>
                    <a:p>
                      <a:r>
                        <a:rPr sz="1725" b="0">
                          <a:solidFill>
                            <a:srgbClr val="203549"/>
                          </a:solidFill>
                          <a:latin typeface="Arial"/>
                          <a:ea typeface="Arial"/>
                          <a:cs typeface="Arial"/>
                        </a:rPr>
                        <a:t>Comparable reports with data availability</a:t>
                      </a:r>
                    </a:p>
                  </a:txBody>
                  <a:tcPr marL="91440" marR="91440" marT="45720" marB="45720">
                    <a:solidFill>
                      <a:srgbClr val="F1F5F7"/>
                    </a:solidFill>
                  </a:tcPr>
                </a:tc>
              </a:tr>
              <a:tr h="638175">
                <a:tc>
                  <a:txBody>
                    <a:bodyPr/>
                    <a:lstStyle/>
                    <a:p>
                      <a:r>
                        <a:rPr sz="1725" b="0">
                          <a:solidFill>
                            <a:srgbClr val="203549"/>
                          </a:solidFill>
                          <a:latin typeface="Arial"/>
                          <a:ea typeface="Arial"/>
                          <a:cs typeface="Arial"/>
                        </a:rPr>
                        <a:t>Ongoing review</a:t>
                      </a:r>
                    </a:p>
                  </a:txBody>
                  <a:tcPr marL="91440" marR="91440" marT="45720" marB="45720">
                    <a:solidFill>
                      <a:srgbClr val="FFFFFF"/>
                    </a:solidFill>
                  </a:tcPr>
                </a:tc>
                <a:tc>
                  <a:txBody>
                    <a:bodyPr/>
                    <a:lstStyle/>
                    <a:p>
                      <a:r>
                        <a:rPr sz="1725" b="0">
                          <a:solidFill>
                            <a:srgbClr val="203549"/>
                          </a:solidFill>
                          <a:latin typeface="Arial"/>
                          <a:ea typeface="Arial"/>
                          <a:cs typeface="Arial"/>
                        </a:rPr>
                        <a:t>Same policy and history window</a:t>
                      </a:r>
                    </a:p>
                  </a:txBody>
                  <a:tcPr marL="91440" marR="91440" marT="45720" marB="45720">
                    <a:solidFill>
                      <a:srgbClr val="FFFFFF"/>
                    </a:solidFill>
                  </a:tcPr>
                </a:tc>
                <a:tc>
                  <a:txBody>
                    <a:bodyPr/>
                    <a:lstStyle/>
                    <a:p>
                      <a:r>
                        <a:rPr sz="1725" b="0">
                          <a:solidFill>
                            <a:srgbClr val="203549"/>
                          </a:solidFill>
                          <a:latin typeface="Arial"/>
                          <a:ea typeface="Arial"/>
                          <a:cs typeface="Arial"/>
                        </a:rPr>
                        <a:t>Track score changes and remediation</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52D1642-3A6E-482D-ACFE-9A3C1D0969E8}"/>
              </a:ext>
            </a:extLst>
          </p:cNvPr>
          <p:cNvSpPr>
            <a:spLocks xmlns:a="http://schemas.openxmlformats.org/drawingml/2006/main" noGrp="1"/>
          </p:cNvSpPr>
          <p:nvPr/>
        </p:nvSpPr>
        <p:spPr>
          <a:xfrm xmlns:a="http://schemas.openxmlformats.org/drawingml/2006/main">
            <a:off x="666750" y="5667375"/>
            <a:ext cx="1057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B6F80"/>
                </a:solidFill>
                <a:latin typeface="Arial"/>
                <a:ea typeface="Arial"/>
                <a:cs typeface="Arial"/>
              </a:defRPr>
            </a:defPPr>
          </a:lstStyle>
          <a:p xmlns:a="http://schemas.openxmlformats.org/drawingml/2006/main">
            <a:pPr>
              <a:defRPr sz="1800" b="0">
                <a:solidFill>
                  <a:srgbClr val="5B6F80"/>
                </a:solidFill>
                <a:latin typeface="Arial"/>
                <a:ea typeface="Arial"/>
                <a:cs typeface="Arial"/>
              </a:defRPr>
            </a:pPr>
            <a:r>
              <a:rPr sz="1800" b="0">
                <a:solidFill>
                  <a:srgbClr val="5B6F80"/>
                </a:solidFill>
                <a:latin typeface="Arial"/>
                <a:ea typeface="Arial"/>
                <a:cs typeface="Arial"/>
              </a:rPr>
              <a:t>A policy version and consistent measurement window make comparisons repeatable.</a:t>
            </a:r>
          </a:p>
        </p:txBody>
      </p:sp>
    </p:spTree>
    <p:extLst>
      <p:ext uri="{BB962C8B-B14F-4D97-AF65-F5344CB8AC3E}">
        <p14:creationId xmlns:p14="http://schemas.microsoft.com/office/powerpoint/2010/main" val="6108529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5D67AB-1F9A-4DC2-8A2E-2EBC19D04E3C}"/>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226A5B"/>
                </a:solidFill>
                <a:latin typeface="Arial"/>
                <a:ea typeface="Arial"/>
                <a:cs typeface="Arial"/>
              </a:defRPr>
            </a:defPPr>
          </a:lstStyle>
          <a:p xmlns:a="http://schemas.openxmlformats.org/drawingml/2006/main">
            <a:pPr>
              <a:defRPr sz="1275" b="1">
                <a:solidFill>
                  <a:srgbClr val="226A5B"/>
                </a:solidFill>
                <a:latin typeface="Arial"/>
                <a:ea typeface="Arial"/>
                <a:cs typeface="Arial"/>
              </a:defRPr>
            </a:pPr>
            <a:r>
              <a:rPr sz="1275" b="1">
                <a:solidFill>
                  <a:srgbClr val="226A5B"/>
                </a:solidFill>
                <a:latin typeface="Arial"/>
                <a:ea typeface="Arial"/>
                <a:cs typeface="Arial"/>
              </a:rPr>
              <a:t>MODEL APPLICATION</a:t>
            </a:r>
          </a:p>
        </p:txBody>
      </p:sp>
      <p:sp>
        <p:nvSpPr>
          <p:cNvPr id="2" name="">
            <a:extLst xmlns:a="http://schemas.openxmlformats.org/drawingml/2006/main">
              <a:ext uri="{FF2B5EF4-FFF2-40B4-BE49-F238E27FC236}">
                <a16:creationId xmlns:a16="http://schemas.microsoft.com/office/drawing/2014/main" id="{EF87B9BF-1C57-491C-A0B0-67D426961258}"/>
              </a:ext>
            </a:extLst>
          </p:cNvPr>
          <p:cNvSpPr>
            <a:spLocks xmlns:a="http://schemas.openxmlformats.org/drawingml/2006/main" noGrp="1"/>
          </p:cNvSpPr>
          <p:nvPr/>
        </p:nvSpPr>
        <p:spPr>
          <a:xfrm xmlns:a="http://schemas.openxmlformats.org/drawingml/2006/main">
            <a:off x="609600" y="828675"/>
            <a:ext cx="1095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203549"/>
                </a:solidFill>
                <a:latin typeface="Arial"/>
                <a:ea typeface="Arial"/>
                <a:cs typeface="Arial"/>
              </a:defRPr>
            </a:defPPr>
          </a:lstStyle>
          <a:p xmlns:a="http://schemas.openxmlformats.org/drawingml/2006/main">
            <a:pPr>
              <a:defRPr sz="3000" b="1">
                <a:solidFill>
                  <a:srgbClr val="203549"/>
                </a:solidFill>
                <a:latin typeface="Arial"/>
                <a:ea typeface="Arial"/>
                <a:cs typeface="Arial"/>
              </a:defRPr>
            </a:pPr>
            <a:r>
              <a:rPr sz="3000" b="1">
                <a:solidFill>
                  <a:srgbClr val="203549"/>
                </a:solidFill>
                <a:latin typeface="Arial"/>
                <a:ea typeface="Arial"/>
                <a:cs typeface="Arial"/>
              </a:rPr>
              <a:t>Model definitions and implementation</a:t>
            </a:r>
          </a:p>
        </p:txBody>
      </p:sp>
      <p:sp>
        <p:nvSpPr>
          <p:cNvPr id="3" name="">
            <a:extLst xmlns:a="http://schemas.openxmlformats.org/drawingml/2006/main">
              <a:ext uri="{FF2B5EF4-FFF2-40B4-BE49-F238E27FC236}">
                <a16:creationId xmlns:a16="http://schemas.microsoft.com/office/drawing/2014/main" id="{762DAECB-7F9D-48DB-BAFD-07BB0A4EBA0D}"/>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B6F80"/>
                </a:solidFill>
                <a:latin typeface="Arial"/>
                <a:ea typeface="Arial"/>
                <a:cs typeface="Arial"/>
              </a:defRPr>
            </a:defPPr>
          </a:lstStyle>
          <a:p xmlns:a="http://schemas.openxmlformats.org/drawingml/2006/main">
            <a:pPr>
              <a:defRPr sz="1125" b="0">
                <a:solidFill>
                  <a:srgbClr val="5B6F80"/>
                </a:solidFill>
                <a:latin typeface="Arial"/>
                <a:ea typeface="Arial"/>
                <a:cs typeface="Arial"/>
              </a:defRPr>
            </a:pPr>
            <a:r>
              <a:rPr sz="1125" b="0">
                <a:solidFill>
                  <a:srgbClr val="5B6F80"/>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BC646D92-BD79-440E-B222-4AEBA39694DC}"/>
              </a:ext>
            </a:extLst>
          </p:cNvPr>
          <p:cNvSpPr>
            <a:spLocks xmlns:a="http://schemas.openxmlformats.org/drawingml/2006/main" noGrp="1"/>
          </p:cNvSpPr>
          <p:nvPr/>
        </p:nvSpPr>
        <p:spPr>
          <a:xfrm xmlns:a="http://schemas.openxmlformats.org/drawingml/2006/main">
            <a:off x="666750" y="19050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226A5B"/>
                </a:solidFill>
                <a:latin typeface="Arial"/>
                <a:ea typeface="Arial"/>
                <a:cs typeface="Arial"/>
              </a:defRPr>
            </a:defPPr>
          </a:lstStyle>
          <a:p xmlns:a="http://schemas.openxmlformats.org/drawingml/2006/main">
            <a:pPr>
              <a:defRPr sz="2100" b="1">
                <a:solidFill>
                  <a:srgbClr val="226A5B"/>
                </a:solidFill>
                <a:latin typeface="Arial"/>
                <a:ea typeface="Arial"/>
                <a:cs typeface="Arial"/>
              </a:defRPr>
            </a:pPr>
            <a:r>
              <a:rPr sz="2100" b="1">
                <a:solidFill>
                  <a:srgbClr val="226A5B"/>
                </a:solidFill>
                <a:latin typeface="Arial"/>
                <a:ea typeface="Arial"/>
                <a:cs typeface="Arial"/>
              </a:rPr>
              <a:t>Original overview</a:t>
            </a:r>
          </a:p>
        </p:txBody>
      </p:sp>
      <p:sp>
        <p:nvSpPr>
          <p:cNvPr id="5" name="">
            <a:extLst xmlns:a="http://schemas.openxmlformats.org/drawingml/2006/main">
              <a:ext uri="{FF2B5EF4-FFF2-40B4-BE49-F238E27FC236}">
                <a16:creationId xmlns:a16="http://schemas.microsoft.com/office/drawing/2014/main" id="{150136AD-D1DD-4223-8D16-138382AB4C0A}"/>
              </a:ext>
            </a:extLst>
          </p:cNvPr>
          <p:cNvSpPr>
            <a:spLocks xmlns:a="http://schemas.openxmlformats.org/drawingml/2006/main" noGrp="1"/>
          </p:cNvSpPr>
          <p:nvPr/>
        </p:nvSpPr>
        <p:spPr>
          <a:xfrm xmlns:a="http://schemas.openxmlformats.org/drawingml/2006/main">
            <a:off x="666750" y="2400300"/>
            <a:ext cx="1047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03549"/>
                </a:solidFill>
                <a:latin typeface="Arial"/>
                <a:ea typeface="Arial"/>
                <a:cs typeface="Arial"/>
              </a:defRPr>
            </a:defPPr>
          </a:lstStyle>
          <a:p xmlns:a="http://schemas.openxmlformats.org/drawingml/2006/main">
            <a:pPr>
              <a:defRPr sz="1875" b="0">
                <a:solidFill>
                  <a:srgbClr val="203549"/>
                </a:solidFill>
                <a:latin typeface="Arial"/>
                <a:ea typeface="Arial"/>
                <a:cs typeface="Arial"/>
              </a:defRPr>
            </a:pPr>
            <a:r>
              <a:rPr sz="1875" b="0">
                <a:solidFill>
                  <a:srgbClr val="203549"/>
                </a:solidFill>
                <a:latin typeface="Arial"/>
                <a:ea typeface="Arial"/>
                <a:cs typeface="Arial"/>
              </a:rPr>
              <a:t>15 criteria combine structural drivers and maintenance risk.</a:t>
            </a:r>
          </a:p>
          <a:p xmlns:a="http://schemas.openxmlformats.org/drawingml/2006/main">
            <a:pPr>
              <a:defRPr sz="1875" b="0">
                <a:solidFill>
                  <a:srgbClr val="203549"/>
                </a:solidFill>
                <a:latin typeface="Arial"/>
                <a:ea typeface="Arial"/>
                <a:cs typeface="Arial"/>
              </a:defRPr>
            </a:pPr>
            <a:r>
              <a:rPr sz="1875" b="0">
                <a:solidFill>
                  <a:srgbClr val="203549"/>
                </a:solidFill>
                <a:latin typeface="Arial"/>
                <a:ea typeface="Arial"/>
                <a:cs typeface="Arial"/>
              </a:rPr>
              <a:t>The normalized overall formula preserves a baseline of 1.</a:t>
            </a:r>
          </a:p>
        </p:txBody>
      </p:sp>
      <p:sp>
        <p:nvSpPr>
          <p:cNvPr id="6" name="">
            <a:extLst xmlns:a="http://schemas.openxmlformats.org/drawingml/2006/main">
              <a:ext uri="{FF2B5EF4-FFF2-40B4-BE49-F238E27FC236}">
                <a16:creationId xmlns:a16="http://schemas.microsoft.com/office/drawing/2014/main" id="{0EBF5A87-97D2-406D-BDF3-382FD75056D7}"/>
              </a:ext>
            </a:extLst>
          </p:cNvPr>
          <p:cNvSpPr>
            <a:spLocks xmlns:a="http://schemas.openxmlformats.org/drawingml/2006/main" noGrp="1"/>
          </p:cNvSpPr>
          <p:nvPr/>
        </p:nvSpPr>
        <p:spPr>
          <a:xfrm xmlns:a="http://schemas.openxmlformats.org/drawingml/2006/main">
            <a:off x="666750" y="390525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226A5B"/>
                </a:solidFill>
                <a:latin typeface="Arial"/>
                <a:ea typeface="Arial"/>
                <a:cs typeface="Arial"/>
              </a:defRPr>
            </a:defPPr>
          </a:lstStyle>
          <a:p xmlns:a="http://schemas.openxmlformats.org/drawingml/2006/main">
            <a:pPr>
              <a:defRPr sz="2100" b="1">
                <a:solidFill>
                  <a:srgbClr val="226A5B"/>
                </a:solidFill>
                <a:latin typeface="Arial"/>
                <a:ea typeface="Arial"/>
                <a:cs typeface="Arial"/>
              </a:defRPr>
            </a:pPr>
            <a:r>
              <a:rPr sz="2100" b="1">
                <a:solidFill>
                  <a:srgbClr val="226A5B"/>
                </a:solidFill>
                <a:latin typeface="Arial"/>
                <a:ea typeface="Arial"/>
                <a:cs typeface="Arial"/>
              </a:rPr>
              <a:t>Delivered calculators</a:t>
            </a:r>
          </a:p>
        </p:txBody>
      </p:sp>
      <p:sp>
        <p:nvSpPr>
          <p:cNvPr id="7" name="">
            <a:extLst xmlns:a="http://schemas.openxmlformats.org/drawingml/2006/main">
              <a:ext uri="{FF2B5EF4-FFF2-40B4-BE49-F238E27FC236}">
                <a16:creationId xmlns:a16="http://schemas.microsoft.com/office/drawing/2014/main" id="{43656647-02D0-4739-8243-1C8D910544CA}"/>
              </a:ext>
            </a:extLst>
          </p:cNvPr>
          <p:cNvSpPr>
            <a:spLocks xmlns:a="http://schemas.openxmlformats.org/drawingml/2006/main" noGrp="1"/>
          </p:cNvSpPr>
          <p:nvPr/>
        </p:nvSpPr>
        <p:spPr>
          <a:xfrm xmlns:a="http://schemas.openxmlformats.org/drawingml/2006/main">
            <a:off x="666750" y="4400550"/>
            <a:ext cx="1047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03549"/>
                </a:solidFill>
                <a:latin typeface="Arial"/>
                <a:ea typeface="Arial"/>
                <a:cs typeface="Arial"/>
              </a:defRPr>
            </a:defPPr>
          </a:lstStyle>
          <a:p xmlns:a="http://schemas.openxmlformats.org/drawingml/2006/main">
            <a:pPr>
              <a:defRPr sz="1875" b="0">
                <a:solidFill>
                  <a:srgbClr val="203549"/>
                </a:solidFill>
                <a:latin typeface="Arial"/>
                <a:ea typeface="Arial"/>
                <a:cs typeface="Arial"/>
              </a:defRPr>
            </a:pPr>
            <a:r>
              <a:rPr sz="1875" b="0">
                <a:solidFill>
                  <a:srgbClr val="203549"/>
                </a:solidFill>
                <a:latin typeface="Arial"/>
                <a:ea typeface="Arial"/>
                <a:cs typeface="Arial"/>
              </a:rPr>
              <a:t>CLI, Excel and HTML show two separate scores with editable policies.</a:t>
            </a:r>
          </a:p>
          <a:p xmlns:a="http://schemas.openxmlformats.org/drawingml/2006/main">
            <a:pPr>
              <a:defRPr sz="1875" b="0">
                <a:solidFill>
                  <a:srgbClr val="203549"/>
                </a:solidFill>
                <a:latin typeface="Arial"/>
                <a:ea typeface="Arial"/>
                <a:cs typeface="Arial"/>
              </a:defRPr>
            </a:pPr>
            <a:r>
              <a:rPr sz="1875" b="0">
                <a:solidFill>
                  <a:srgbClr val="203549"/>
                </a:solidFill>
                <a:latin typeface="Arial"/>
                <a:ea typeface="Arial"/>
                <a:cs typeface="Arial"/>
              </a:rPr>
              <a:t>Their default curves differ from the original Section 8 examples.</a:t>
            </a:r>
          </a:p>
        </p:txBody>
      </p:sp>
    </p:spTree>
    <p:extLst>
      <p:ext uri="{BB962C8B-B14F-4D97-AF65-F5344CB8AC3E}">
        <p14:creationId xmlns:p14="http://schemas.microsoft.com/office/powerpoint/2010/main" val="10686262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2026-10-14T20:12:03.0510000Z</dcterms:created>
  <dcterms:modified xsi:type="dcterms:W3CDTF">2026-10-14T20:12:03.0510000Z</dcterms:modified>
</coreProperties>
</file>